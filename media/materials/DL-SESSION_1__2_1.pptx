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8"/>
  </p:notesMasterIdLst>
  <p:handoutMasterIdLst>
    <p:handoutMasterId r:id="rId29"/>
  </p:handoutMasterIdLst>
  <p:sldIdLst>
    <p:sldId id="271" r:id="rId2"/>
    <p:sldId id="325" r:id="rId3"/>
    <p:sldId id="288" r:id="rId4"/>
    <p:sldId id="282" r:id="rId5"/>
    <p:sldId id="304" r:id="rId6"/>
    <p:sldId id="305" r:id="rId7"/>
    <p:sldId id="306" r:id="rId8"/>
    <p:sldId id="307" r:id="rId9"/>
    <p:sldId id="308" r:id="rId10"/>
    <p:sldId id="309" r:id="rId11"/>
    <p:sldId id="310" r:id="rId12"/>
    <p:sldId id="311" r:id="rId13"/>
    <p:sldId id="312" r:id="rId14"/>
    <p:sldId id="313" r:id="rId15"/>
    <p:sldId id="314" r:id="rId16"/>
    <p:sldId id="326" r:id="rId17"/>
    <p:sldId id="315" r:id="rId18"/>
    <p:sldId id="316" r:id="rId19"/>
    <p:sldId id="317" r:id="rId20"/>
    <p:sldId id="318" r:id="rId21"/>
    <p:sldId id="319" r:id="rId22"/>
    <p:sldId id="320" r:id="rId23"/>
    <p:sldId id="300" r:id="rId24"/>
    <p:sldId id="284" r:id="rId25"/>
    <p:sldId id="323" r:id="rId26"/>
    <p:sldId id="28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94773" autoAdjust="0"/>
  </p:normalViewPr>
  <p:slideViewPr>
    <p:cSldViewPr snapToGrid="0">
      <p:cViewPr varScale="1">
        <p:scale>
          <a:sx n="78" d="100"/>
          <a:sy n="78" d="100"/>
        </p:scale>
        <p:origin x="130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14-07-2025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14-07-2025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7232732-0EAA-40DA-B6D5-3FC007231A27}" type="slidenum">
              <a:rPr lang="en-IN" altLang="en-US" smtClean="0"/>
              <a:pPr/>
              <a:t>25</a:t>
            </a:fld>
            <a:endParaRPr lang="en-IN" altLang="en-US"/>
          </a:p>
        </p:txBody>
      </p:sp>
    </p:spTree>
    <p:extLst>
      <p:ext uri="{BB962C8B-B14F-4D97-AF65-F5344CB8AC3E}">
        <p14:creationId xmlns:p14="http://schemas.microsoft.com/office/powerpoint/2010/main" val="3191408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571580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jalammar.github.io/illustrated-transformer/"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hyperlink" Target="https://arxiv.org/abs/1706.03762"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8540" y="117034"/>
            <a:ext cx="6027459" cy="6623931"/>
          </a:xfrm>
          <a:prstGeom prst="rect">
            <a:avLst/>
          </a:prstGeom>
          <a:noFill/>
          <a:ln>
            <a:noFill/>
          </a:ln>
        </p:spPr>
      </p:pic>
      <p:sp>
        <p:nvSpPr>
          <p:cNvPr id="476" name="Google Shape;476;p16"/>
          <p:cNvSpPr txBox="1"/>
          <p:nvPr/>
        </p:nvSpPr>
        <p:spPr>
          <a:xfrm>
            <a:off x="5025141" y="1633236"/>
            <a:ext cx="6902548" cy="458583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Deep Learning</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 </a:t>
            </a:r>
            <a:r>
              <a:rPr lang="en-GB" sz="3200" b="1" cap="all" dirty="0">
                <a:ln/>
                <a:solidFill>
                  <a:srgbClr val="C00000"/>
                </a:solidFill>
                <a:cs typeface="Poppins" panose="00000500000000000000" pitchFamily="2" charset="0"/>
              </a:rPr>
              <a:t>23AVI3101A</a:t>
            </a:r>
            <a:endParaRPr lang="en-US" sz="3200" b="1" cap="all" dirty="0">
              <a:ln/>
              <a:solidFill>
                <a:srgbClr val="C00000"/>
              </a:solidFill>
              <a:cs typeface="Poppins" panose="00000500000000000000" pitchFamily="2" charset="0"/>
              <a:sym typeface="BioRhyme ExtraBold"/>
            </a:endParaRPr>
          </a:p>
          <a:p>
            <a:pPr algn="ctr"/>
            <a:r>
              <a:rPr lang="en-GB" sz="3200" b="1" cap="all" dirty="0">
                <a:ln/>
                <a:solidFill>
                  <a:srgbClr val="C00000"/>
                </a:solidFill>
                <a:cs typeface="Poppins" panose="00000500000000000000" pitchFamily="2" charset="0"/>
              </a:rPr>
              <a:t>23AVI3101R</a:t>
            </a:r>
            <a:endParaRPr lang="en-US" sz="3200" b="1" cap="all" dirty="0">
              <a:ln/>
              <a:solidFill>
                <a:srgbClr val="C00000"/>
              </a:solidFill>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algn="ctr"/>
            <a:r>
              <a:rPr lang="en-US" sz="4000" dirty="0">
                <a:solidFill>
                  <a:srgbClr val="C00000"/>
                </a:solidFill>
                <a:latin typeface="+mj-lt"/>
              </a:rPr>
              <a:t>Introduction to Deep learning (DL) </a:t>
            </a:r>
          </a:p>
          <a:p>
            <a:pPr algn="ctr"/>
            <a:r>
              <a:rPr lang="en-US" sz="2400" b="1" cap="all" dirty="0">
                <a:ln/>
                <a:solidFill>
                  <a:srgbClr val="C00000"/>
                </a:solidFill>
                <a:cs typeface="Poppins" panose="00000500000000000000" pitchFamily="2" charset="0"/>
              </a:rPr>
              <a:t>(H</a:t>
            </a:r>
            <a:r>
              <a:rPr lang="en-US" sz="2400" dirty="0">
                <a:solidFill>
                  <a:srgbClr val="C00000"/>
                </a:solidFill>
              </a:rPr>
              <a:t>istory of DL &amp; DL Success Stories)</a:t>
            </a:r>
          </a:p>
          <a:p>
            <a:pPr marL="0" marR="0" lvl="0" indent="0" algn="ctr" defTabSz="914400" rtl="0" eaLnBrk="1" fontAlgn="base" latinLnBrk="0" hangingPunct="1">
              <a:lnSpc>
                <a:spcPct val="90000"/>
              </a:lnSpc>
              <a:spcBef>
                <a:spcPct val="0"/>
              </a:spcBef>
              <a:spcAft>
                <a:spcPct val="0"/>
              </a:spcAft>
              <a:buClrTx/>
              <a:buSzTx/>
              <a:buFontTx/>
              <a:buNone/>
              <a:tabLst/>
              <a:defRPr/>
            </a:pPr>
            <a:br>
              <a:rPr lang="en-US" sz="4000" dirty="0">
                <a:solidFill>
                  <a:srgbClr val="C00000"/>
                </a:solidFill>
                <a:latin typeface="+mj-lt"/>
              </a:rPr>
            </a:br>
            <a:r>
              <a:rPr lang="en-US" sz="4000" dirty="0">
                <a:solidFill>
                  <a:srgbClr val="C00000"/>
                </a:solidFill>
                <a:latin typeface="+mj-lt"/>
              </a:rPr>
              <a:t> </a:t>
            </a: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CSE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276164" y="6246293"/>
            <a:ext cx="2235116" cy="453054"/>
          </a:xfrm>
          <a:prstGeom prst="roundRect">
            <a:avLst>
              <a:gd name="adj" fmla="val 50000"/>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 &amp; 2 </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1" y="84408"/>
            <a:ext cx="3787725"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828800" y="684469"/>
            <a:ext cx="8791575"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deep learning </a:t>
            </a:r>
          </a:p>
        </p:txBody>
      </p:sp>
      <p:sp>
        <p:nvSpPr>
          <p:cNvPr id="7" name="Rounded Rectangle 17">
            <a:extLst>
              <a:ext uri="{FF2B5EF4-FFF2-40B4-BE49-F238E27FC236}">
                <a16:creationId xmlns:a16="http://schemas.microsoft.com/office/drawing/2014/main" id="{7F3AABB0-F8BA-C900-B6BF-45F4B58E9490}"/>
              </a:ext>
            </a:extLst>
          </p:cNvPr>
          <p:cNvSpPr/>
          <p:nvPr/>
        </p:nvSpPr>
        <p:spPr>
          <a:xfrm>
            <a:off x="3903021" y="1335271"/>
            <a:ext cx="4924424"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828800" y="1923622"/>
            <a:ext cx="8791575" cy="153477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150000"/>
              </a:lnSpc>
            </a:pPr>
            <a:r>
              <a:rPr lang="en-US" sz="1600" dirty="0">
                <a:latin typeface="Poppins"/>
                <a:cs typeface="Poppins"/>
              </a:rPr>
              <a:t>This session is designed to:</a:t>
            </a:r>
          </a:p>
          <a:p>
            <a:pPr indent="-342900">
              <a:lnSpc>
                <a:spcPct val="150000"/>
              </a:lnSpc>
              <a:buFontTx/>
              <a:buAutoNum type="arabicPeriod"/>
            </a:pPr>
            <a:r>
              <a:rPr lang="en-US" sz="1600" dirty="0">
                <a:latin typeface="Poppins"/>
                <a:cs typeface="Poppins"/>
              </a:rPr>
              <a:t>Understand the introduction of Deep Learning. </a:t>
            </a:r>
          </a:p>
          <a:p>
            <a:pPr indent="-342900">
              <a:lnSpc>
                <a:spcPct val="150000"/>
              </a:lnSpc>
              <a:buFontTx/>
              <a:buAutoNum type="arabicPeriod"/>
            </a:pPr>
            <a:r>
              <a:rPr lang="en-US" sz="1600" dirty="0">
                <a:latin typeface="Poppins"/>
                <a:cs typeface="Poppins"/>
              </a:rPr>
              <a:t>Know the history.</a:t>
            </a:r>
          </a:p>
          <a:p>
            <a:pPr indent="-342900">
              <a:lnSpc>
                <a:spcPct val="150000"/>
              </a:lnSpc>
              <a:buFontTx/>
              <a:buAutoNum type="arabicPeriod"/>
            </a:pPr>
            <a:r>
              <a:rPr lang="en-US" sz="1600" dirty="0">
                <a:latin typeface="Poppins"/>
                <a:cs typeface="Poppins"/>
              </a:rPr>
              <a:t>Learn Success stories</a:t>
            </a: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2671" y="684469"/>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655422" y="3673721"/>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7697" y="457974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828800" y="4270770"/>
            <a:ext cx="8791575" cy="1532343"/>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15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lnSpc>
                <a:spcPct val="150000"/>
              </a:lnSpc>
              <a:buAutoNum type="arabicPeriod"/>
            </a:pPr>
            <a:r>
              <a:rPr lang="en-US" sz="1600" dirty="0">
                <a:latin typeface="Arial" panose="020B0604020202020204" pitchFamily="34" charset="0"/>
              </a:rPr>
              <a:t>Summarize history of deep learning</a:t>
            </a:r>
          </a:p>
          <a:p>
            <a:pPr marL="342900" indent="-342900">
              <a:lnSpc>
                <a:spcPct val="150000"/>
              </a:lnSpc>
              <a:buFontTx/>
              <a:buAutoNum type="arabicPeriod"/>
            </a:pPr>
            <a:r>
              <a:rPr lang="en-US" sz="1600" dirty="0">
                <a:latin typeface="Arial"/>
                <a:cs typeface="Arial"/>
              </a:rPr>
              <a:t>Understand the need of deep learning</a:t>
            </a:r>
          </a:p>
          <a:p>
            <a:pPr marL="342900" indent="-342900">
              <a:lnSpc>
                <a:spcPct val="150000"/>
              </a:lnSpc>
              <a:buAutoNum type="arabicPeriod"/>
            </a:pPr>
            <a:r>
              <a:rPr lang="en-US" sz="1600" dirty="0">
                <a:latin typeface="Arial" panose="020B0604020202020204" pitchFamily="34" charset="0"/>
                <a:cs typeface="Poppins" panose="00000500000000000000" pitchFamily="2" charset="0"/>
              </a:rPr>
              <a:t>Identify the deep learning applications in real time</a:t>
            </a:r>
            <a:endParaRPr lang="en-US" sz="16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AEBAE9-EB2E-14C6-B03C-75011EEA9EE3}"/>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5" name="TextBox 4">
            <a:extLst>
              <a:ext uri="{FF2B5EF4-FFF2-40B4-BE49-F238E27FC236}">
                <a16:creationId xmlns:a16="http://schemas.microsoft.com/office/drawing/2014/main" id="{F58EEE26-E89F-F52B-EC39-742D40E02119}"/>
              </a:ext>
            </a:extLst>
          </p:cNvPr>
          <p:cNvSpPr txBox="1"/>
          <p:nvPr/>
        </p:nvSpPr>
        <p:spPr>
          <a:xfrm>
            <a:off x="1828799" y="679859"/>
            <a:ext cx="7973961" cy="769441"/>
          </a:xfrm>
          <a:prstGeom prst="rect">
            <a:avLst/>
          </a:prstGeom>
          <a:noFill/>
        </p:spPr>
        <p:txBody>
          <a:bodyPr wrap="square" rtlCol="0">
            <a:spAutoFit/>
          </a:bodyPr>
          <a:lstStyle/>
          <a:p>
            <a:pPr algn="ctr"/>
            <a:r>
              <a:rPr lang="en-US" sz="4400" b="1" dirty="0">
                <a:solidFill>
                  <a:srgbClr val="C00000"/>
                </a:solidFill>
              </a:rPr>
              <a:t>What is Deep Learning (DL)</a:t>
            </a:r>
            <a:endParaRPr lang="en-US" sz="4400" dirty="0">
              <a:solidFill>
                <a:srgbClr val="C00000"/>
              </a:solidFill>
              <a:latin typeface="Stencil" panose="040409050D0802020404" pitchFamily="82" charset="0"/>
            </a:endParaRPr>
          </a:p>
        </p:txBody>
      </p:sp>
      <p:sp>
        <p:nvSpPr>
          <p:cNvPr id="2" name="Text Placeholder 11">
            <a:extLst>
              <a:ext uri="{FF2B5EF4-FFF2-40B4-BE49-F238E27FC236}">
                <a16:creationId xmlns:a16="http://schemas.microsoft.com/office/drawing/2014/main" id="{7E6990E3-E48B-B138-664F-380AFF79C2D5}"/>
              </a:ext>
            </a:extLst>
          </p:cNvPr>
          <p:cNvSpPr txBox="1">
            <a:spLocks/>
          </p:cNvSpPr>
          <p:nvPr/>
        </p:nvSpPr>
        <p:spPr>
          <a:xfrm>
            <a:off x="1204451" y="1976284"/>
            <a:ext cx="10039760" cy="4201857"/>
          </a:xfrm>
          <a:prstGeom prst="rect">
            <a:avLst/>
          </a:prstGeom>
        </p:spPr>
        <p:txBody>
          <a:bodyPr vert="horz" lIns="91440" tIns="45720" rIns="91440" bIns="45720" rtlCol="0" anchor="t">
            <a:normAutofit fontScale="77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just"/>
            <a:r>
              <a:rPr lang="en-US" sz="2800" dirty="0"/>
              <a:t>A machine learning subfield of learning </a:t>
            </a:r>
            <a:r>
              <a:rPr lang="en-US" sz="2800" b="1" dirty="0">
                <a:solidFill>
                  <a:srgbClr val="E68230"/>
                </a:solidFill>
              </a:rPr>
              <a:t>representations</a:t>
            </a:r>
            <a:r>
              <a:rPr lang="en-US" sz="2800" dirty="0">
                <a:solidFill>
                  <a:srgbClr val="E68230"/>
                </a:solidFill>
              </a:rPr>
              <a:t> </a:t>
            </a:r>
            <a:r>
              <a:rPr lang="en-US" sz="2800" dirty="0"/>
              <a:t>of data. Exceptional effective at </a:t>
            </a:r>
            <a:r>
              <a:rPr lang="en-US" sz="2800" b="1" dirty="0">
                <a:solidFill>
                  <a:srgbClr val="E68230"/>
                </a:solidFill>
              </a:rPr>
              <a:t>learning patterns</a:t>
            </a:r>
            <a:r>
              <a:rPr lang="en-US" sz="2800" dirty="0"/>
              <a:t>.</a:t>
            </a:r>
          </a:p>
          <a:p>
            <a:pPr algn="just"/>
            <a:r>
              <a:rPr lang="en-US" sz="2800" dirty="0"/>
              <a:t>Deep learning algorithms attempt to learn (multiple levels of) representation by using a </a:t>
            </a:r>
            <a:r>
              <a:rPr lang="en-US" sz="2800" b="1" dirty="0">
                <a:solidFill>
                  <a:srgbClr val="E68230"/>
                </a:solidFill>
              </a:rPr>
              <a:t>hierarchy of multiple layers</a:t>
            </a:r>
          </a:p>
          <a:p>
            <a:pPr algn="just"/>
            <a:r>
              <a:rPr lang="en-US" sz="2800" dirty="0"/>
              <a:t>If you provide the system </a:t>
            </a:r>
            <a:r>
              <a:rPr lang="en-US" sz="2800" b="1" dirty="0">
                <a:solidFill>
                  <a:srgbClr val="E68230"/>
                </a:solidFill>
              </a:rPr>
              <a:t>tons of information</a:t>
            </a:r>
            <a:r>
              <a:rPr lang="en-US" sz="2800" dirty="0"/>
              <a:t>, it begins to understand it and respond in useful ways.</a:t>
            </a:r>
          </a:p>
          <a:p>
            <a:pPr algn="just"/>
            <a:r>
              <a:rPr lang="en-US" sz="2800" dirty="0"/>
              <a:t>Machine Learning is an approach or subset of Artificial Intelligence that is based on the idea that machines can be given access to data along with the ability to learn from it. </a:t>
            </a:r>
          </a:p>
          <a:p>
            <a:pPr algn="just"/>
            <a:r>
              <a:rPr lang="en-US" sz="2800" dirty="0"/>
              <a:t>Deep Learning takes Machine Learning to the next level.</a:t>
            </a:r>
          </a:p>
          <a:p>
            <a:endParaRPr lang="en-US" sz="2800" dirty="0"/>
          </a:p>
        </p:txBody>
      </p:sp>
    </p:spTree>
    <p:extLst>
      <p:ext uri="{BB962C8B-B14F-4D97-AF65-F5344CB8AC3E}">
        <p14:creationId xmlns:p14="http://schemas.microsoft.com/office/powerpoint/2010/main" val="4082499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0917" y="361081"/>
            <a:ext cx="7846142" cy="746859"/>
          </a:xfrm>
        </p:spPr>
        <p:txBody>
          <a:bodyPr>
            <a:normAutofit fontScale="90000"/>
          </a:bodyPr>
          <a:lstStyle/>
          <a:p>
            <a:pPr algn="ctr"/>
            <a:r>
              <a:rPr lang="en-US" dirty="0">
                <a:solidFill>
                  <a:srgbClr val="C00000"/>
                </a:solidFill>
              </a:rPr>
              <a:t>Machine Learning  Vs Deep Learning</a:t>
            </a:r>
          </a:p>
        </p:txBody>
      </p:sp>
      <p:sp>
        <p:nvSpPr>
          <p:cNvPr id="4" name="Date Placeholder 3"/>
          <p:cNvSpPr>
            <a:spLocks noGrp="1"/>
          </p:cNvSpPr>
          <p:nvPr>
            <p:ph type="dt" sz="half" idx="10"/>
          </p:nvPr>
        </p:nvSpPr>
        <p:spPr/>
        <p:txBody>
          <a:bodyPr/>
          <a:lstStyle/>
          <a:p>
            <a:pPr>
              <a:defRPr/>
            </a:pPr>
            <a:fld id="{3DE64E29-95C0-444C-9DDB-99B8DC24C77B}" type="datetime1">
              <a:rPr lang="en-US" smtClean="0"/>
              <a:pPr>
                <a:defRPr/>
              </a:pPr>
              <a:t>7/14/2025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algn="ctr" rtl="0" eaLnBrk="1" fontAlgn="auto" hangingPunct="1">
              <a:spcBef>
                <a:spcPts val="0"/>
              </a:spcBef>
              <a:spcAft>
                <a:spcPts val="0"/>
              </a:spcAft>
              <a:defRPr sz="1200" kern="1200" smtClean="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a:lstStyle>
          <a:p>
            <a:pPr>
              <a:defRPr/>
            </a:pPr>
            <a:r>
              <a:rPr lang="en-US"/>
              <a:t>Deep learning</a:t>
            </a:r>
          </a:p>
        </p:txBody>
      </p:sp>
      <p:sp>
        <p:nvSpPr>
          <p:cNvPr id="6" name="Slide Number Placeholder 5"/>
          <p:cNvSpPr>
            <a:spLocks noGrp="1"/>
          </p:cNvSpPr>
          <p:nvPr>
            <p:ph type="sldNum" sz="quarter" idx="12"/>
          </p:nvPr>
        </p:nvSpPr>
        <p:spPr/>
        <p:txBody>
          <a:bodyPr/>
          <a:lstStyle/>
          <a:p>
            <a:fld id="{4798278A-05FC-47D1-9FAC-838E6DCAC4A0}" type="slidenum">
              <a:rPr lang="en-US" smtClean="0"/>
              <a:pPr/>
              <a:t>4</a:t>
            </a:fld>
            <a:endParaRPr lang="en-US"/>
          </a:p>
        </p:txBody>
      </p:sp>
      <p:pic>
        <p:nvPicPr>
          <p:cNvPr id="7" name="Picture 6" descr="machine-learning-vs-deep-learni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6215" y="2274454"/>
            <a:ext cx="9958726" cy="3143120"/>
          </a:xfrm>
          <a:prstGeom prst="rect">
            <a:avLst/>
          </a:prstGeom>
        </p:spPr>
      </p:pic>
    </p:spTree>
    <p:extLst>
      <p:ext uri="{BB962C8B-B14F-4D97-AF65-F5344CB8AC3E}">
        <p14:creationId xmlns:p14="http://schemas.microsoft.com/office/powerpoint/2010/main" val="2925028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3E42B-24D7-B17A-0447-A8D6C02C258A}"/>
              </a:ext>
            </a:extLst>
          </p:cNvPr>
          <p:cNvSpPr>
            <a:spLocks noGrp="1"/>
          </p:cNvSpPr>
          <p:nvPr>
            <p:ph type="title"/>
          </p:nvPr>
        </p:nvSpPr>
        <p:spPr/>
        <p:txBody>
          <a:bodyPr/>
          <a:lstStyle/>
          <a:p>
            <a:pPr algn="ctr"/>
            <a:r>
              <a:rPr lang="en-US" dirty="0">
                <a:solidFill>
                  <a:srgbClr val="C00000"/>
                </a:solidFill>
              </a:rPr>
              <a:t>Machine Learning  Vs Deep Learning</a:t>
            </a:r>
            <a:endParaRPr lang="en-IN" dirty="0"/>
          </a:p>
        </p:txBody>
      </p:sp>
      <p:sp>
        <p:nvSpPr>
          <p:cNvPr id="4" name="Slide Number Placeholder 3">
            <a:extLst>
              <a:ext uri="{FF2B5EF4-FFF2-40B4-BE49-F238E27FC236}">
                <a16:creationId xmlns:a16="http://schemas.microsoft.com/office/drawing/2014/main" id="{6F2ACEB2-C6D2-2ACE-9F9C-1F3483B050AE}"/>
              </a:ext>
            </a:extLst>
          </p:cNvPr>
          <p:cNvSpPr>
            <a:spLocks noGrp="1"/>
          </p:cNvSpPr>
          <p:nvPr>
            <p:ph type="sldNum" sz="quarter" idx="12"/>
          </p:nvPr>
        </p:nvSpPr>
        <p:spPr/>
        <p:txBody>
          <a:bodyPr/>
          <a:lstStyle/>
          <a:p>
            <a:fld id="{CBABCCC1-BF11-4F37-963E-1BCD5B23FD72}" type="slidenum">
              <a:rPr lang="en-IN" smtClean="0"/>
              <a:t>5</a:t>
            </a:fld>
            <a:endParaRPr lang="en-IN"/>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476103726"/>
              </p:ext>
            </p:extLst>
          </p:nvPr>
        </p:nvGraphicFramePr>
        <p:xfrm>
          <a:off x="1450974" y="1962081"/>
          <a:ext cx="9885620" cy="3964908"/>
        </p:xfrm>
        <a:graphic>
          <a:graphicData uri="http://schemas.openxmlformats.org/drawingml/2006/table">
            <a:tbl>
              <a:tblPr/>
              <a:tblGrid>
                <a:gridCol w="4942810">
                  <a:extLst>
                    <a:ext uri="{9D8B030D-6E8A-4147-A177-3AD203B41FA5}">
                      <a16:colId xmlns:a16="http://schemas.microsoft.com/office/drawing/2014/main" val="20000"/>
                    </a:ext>
                  </a:extLst>
                </a:gridCol>
                <a:gridCol w="4942810">
                  <a:extLst>
                    <a:ext uri="{9D8B030D-6E8A-4147-A177-3AD203B41FA5}">
                      <a16:colId xmlns:a16="http://schemas.microsoft.com/office/drawing/2014/main" val="20001"/>
                    </a:ext>
                  </a:extLst>
                </a:gridCol>
              </a:tblGrid>
              <a:tr h="511244">
                <a:tc>
                  <a:txBody>
                    <a:bodyPr/>
                    <a:lstStyle/>
                    <a:p>
                      <a:pPr algn="ctr" fontAlgn="base"/>
                      <a:r>
                        <a:rPr lang="en-US" sz="1800" b="0" dirty="0">
                          <a:solidFill>
                            <a:srgbClr val="FF0000"/>
                          </a:solidFill>
                          <a:effectLst/>
                          <a:latin typeface="Gill Sans MT (Body)"/>
                        </a:rPr>
                        <a:t>Machine Learning</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base"/>
                      <a:r>
                        <a:rPr lang="en-US" sz="1800" b="0" dirty="0">
                          <a:solidFill>
                            <a:srgbClr val="FF0000"/>
                          </a:solidFill>
                          <a:effectLst/>
                          <a:latin typeface="Gill Sans MT (Body)"/>
                        </a:rPr>
                        <a:t>Deep Learning</a:t>
                      </a:r>
                    </a:p>
                  </a:txBody>
                  <a:tcPr marL="76200" marR="762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04496">
                <a:tc>
                  <a:txBody>
                    <a:bodyPr/>
                    <a:lstStyle/>
                    <a:p>
                      <a:pPr algn="ctr" fontAlgn="base"/>
                      <a:r>
                        <a:rPr lang="en-US" sz="1800" b="0" dirty="0">
                          <a:effectLst/>
                          <a:latin typeface="Gill Sans MT (Body)"/>
                        </a:rPr>
                        <a:t>Works on </a:t>
                      </a:r>
                      <a:r>
                        <a:rPr lang="en-US" sz="1800" b="0" dirty="0">
                          <a:solidFill>
                            <a:schemeClr val="tx1"/>
                          </a:solidFill>
                          <a:effectLst/>
                          <a:latin typeface="Gill Sans MT (Body)"/>
                        </a:rPr>
                        <a:t>small</a:t>
                      </a:r>
                      <a:r>
                        <a:rPr lang="en-US" sz="1800" b="0" dirty="0">
                          <a:effectLst/>
                          <a:latin typeface="Gill Sans MT (Body)"/>
                        </a:rPr>
                        <a:t> amount of Dataset for accuracy.</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800" b="0" dirty="0">
                          <a:effectLst/>
                          <a:latin typeface="Gill Sans MT (Body)"/>
                        </a:rPr>
                        <a:t>Works on Large amount of Dataset.</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496">
                <a:tc>
                  <a:txBody>
                    <a:bodyPr/>
                    <a:lstStyle/>
                    <a:p>
                      <a:pPr algn="ctr" fontAlgn="base"/>
                      <a:r>
                        <a:rPr lang="en-US" sz="1800" b="0" dirty="0">
                          <a:effectLst/>
                          <a:latin typeface="Gill Sans MT (Body)"/>
                        </a:rPr>
                        <a:t>Dependent on Low-end Machine.</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800" b="0" dirty="0">
                          <a:effectLst/>
                          <a:latin typeface="Gill Sans MT (Body)"/>
                        </a:rPr>
                        <a:t>Heavily dependent on High-end Machine.</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2632">
                <a:tc>
                  <a:txBody>
                    <a:bodyPr/>
                    <a:lstStyle/>
                    <a:p>
                      <a:pPr algn="ctr" fontAlgn="base"/>
                      <a:r>
                        <a:rPr lang="en-US" sz="1800" b="0" dirty="0">
                          <a:effectLst/>
                          <a:latin typeface="Gill Sans MT (Body)"/>
                        </a:rPr>
                        <a:t>Divides the tasks into sub-tasks, solves them individually and finally combine the results.</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800" b="0" dirty="0">
                          <a:effectLst/>
                          <a:latin typeface="Gill Sans MT (Body)"/>
                        </a:rPr>
                        <a:t>Solves problem end to end.</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46360">
                <a:tc>
                  <a:txBody>
                    <a:bodyPr/>
                    <a:lstStyle/>
                    <a:p>
                      <a:pPr algn="ctr" fontAlgn="base"/>
                      <a:r>
                        <a:rPr lang="en-US" sz="1800" b="0">
                          <a:effectLst/>
                          <a:latin typeface="Gill Sans MT (Body)"/>
                        </a:rPr>
                        <a:t>Takes less time to train.</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800" b="0" dirty="0">
                          <a:effectLst/>
                          <a:latin typeface="Gill Sans MT (Body)"/>
                        </a:rPr>
                        <a:t>Takes longer time to train.</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46360">
                <a:tc>
                  <a:txBody>
                    <a:bodyPr/>
                    <a:lstStyle/>
                    <a:p>
                      <a:pPr algn="ctr" fontAlgn="base"/>
                      <a:r>
                        <a:rPr lang="en-US" sz="1800" b="0" dirty="0">
                          <a:effectLst/>
                          <a:latin typeface="Gill Sans MT (Body)"/>
                        </a:rPr>
                        <a:t>Testing time may increase.</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US" sz="1800" b="0" dirty="0">
                          <a:effectLst/>
                          <a:latin typeface="Gill Sans MT (Body)"/>
                        </a:rPr>
                        <a:t>Less time to test the data</a:t>
                      </a:r>
                    </a:p>
                  </a:txBody>
                  <a:tcPr marL="95250" marR="95250" marT="133350" marB="1333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80518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DE212-953D-817C-F02B-9C8011E1AAD6}"/>
              </a:ext>
            </a:extLst>
          </p:cNvPr>
          <p:cNvSpPr>
            <a:spLocks noGrp="1"/>
          </p:cNvSpPr>
          <p:nvPr>
            <p:ph type="title"/>
          </p:nvPr>
        </p:nvSpPr>
        <p:spPr/>
        <p:txBody>
          <a:bodyPr/>
          <a:lstStyle/>
          <a:p>
            <a:pPr algn="ctr"/>
            <a:r>
              <a:rPr lang="en-US" sz="3200" b="1" dirty="0">
                <a:solidFill>
                  <a:srgbClr val="C00000"/>
                </a:solidFill>
              </a:rPr>
              <a:t>Why is DL useful? </a:t>
            </a:r>
            <a:endParaRPr lang="en-IN" dirty="0"/>
          </a:p>
        </p:txBody>
      </p:sp>
      <p:sp>
        <p:nvSpPr>
          <p:cNvPr id="4" name="Slide Number Placeholder 3">
            <a:extLst>
              <a:ext uri="{FF2B5EF4-FFF2-40B4-BE49-F238E27FC236}">
                <a16:creationId xmlns:a16="http://schemas.microsoft.com/office/drawing/2014/main" id="{6E2E6B8A-57E6-3556-5454-99CC69C4800C}"/>
              </a:ext>
            </a:extLst>
          </p:cNvPr>
          <p:cNvSpPr>
            <a:spLocks noGrp="1"/>
          </p:cNvSpPr>
          <p:nvPr>
            <p:ph type="sldNum" sz="quarter" idx="12"/>
          </p:nvPr>
        </p:nvSpPr>
        <p:spPr/>
        <p:txBody>
          <a:bodyPr/>
          <a:lstStyle/>
          <a:p>
            <a:fld id="{CBABCCC1-BF11-4F37-963E-1BCD5B23FD72}" type="slidenum">
              <a:rPr lang="en-IN" smtClean="0"/>
              <a:t>6</a:t>
            </a:fld>
            <a:endParaRPr lang="en-IN"/>
          </a:p>
        </p:txBody>
      </p:sp>
      <p:sp>
        <p:nvSpPr>
          <p:cNvPr id="5" name="Text Placeholder 11">
            <a:extLst>
              <a:ext uri="{FF2B5EF4-FFF2-40B4-BE49-F238E27FC236}">
                <a16:creationId xmlns:a16="http://schemas.microsoft.com/office/drawing/2014/main" id="{8E63D908-C433-B9A4-218D-58F59EE73B1D}"/>
              </a:ext>
            </a:extLst>
          </p:cNvPr>
          <p:cNvSpPr>
            <a:spLocks noGrp="1"/>
          </p:cNvSpPr>
          <p:nvPr>
            <p:ph idx="1"/>
          </p:nvPr>
        </p:nvSpPr>
        <p:spPr>
          <a:xfrm>
            <a:off x="890716" y="2016125"/>
            <a:ext cx="6866936" cy="4037356"/>
          </a:xfrm>
        </p:spPr>
        <p:txBody>
          <a:bodyPr>
            <a:normAutofit fontScale="92500"/>
          </a:bodyPr>
          <a:lstStyle/>
          <a:p>
            <a:pPr lvl="1" indent="-285750" algn="just">
              <a:lnSpc>
                <a:spcPct val="100000"/>
              </a:lnSpc>
              <a:spcBef>
                <a:spcPts val="0"/>
              </a:spcBef>
              <a:buFont typeface="Arial" pitchFamily="34" charset="0"/>
              <a:buChar char="•"/>
            </a:pPr>
            <a:r>
              <a:rPr lang="en-US" sz="2400" dirty="0">
                <a:solidFill>
                  <a:schemeClr val="tx1"/>
                </a:solidFill>
                <a:latin typeface="Gill Sans MT (Body)"/>
              </a:rPr>
              <a:t>Manually designed features are often </a:t>
            </a:r>
            <a:r>
              <a:rPr lang="en-US" sz="2400" b="1" dirty="0">
                <a:solidFill>
                  <a:srgbClr val="E68230"/>
                </a:solidFill>
                <a:latin typeface="Gill Sans MT (Body)"/>
              </a:rPr>
              <a:t>over-specified</a:t>
            </a:r>
            <a:r>
              <a:rPr lang="en-US" sz="2400" dirty="0">
                <a:latin typeface="Gill Sans MT (Body)"/>
              </a:rPr>
              <a:t>, </a:t>
            </a:r>
            <a:r>
              <a:rPr lang="en-US" sz="2400" b="1" dirty="0">
                <a:solidFill>
                  <a:srgbClr val="E68230"/>
                </a:solidFill>
                <a:latin typeface="Gill Sans MT (Body)"/>
              </a:rPr>
              <a:t>incomplete</a:t>
            </a:r>
            <a:r>
              <a:rPr lang="en-US" sz="2400" dirty="0">
                <a:solidFill>
                  <a:srgbClr val="E68230"/>
                </a:solidFill>
                <a:latin typeface="Gill Sans MT (Body)"/>
              </a:rPr>
              <a:t> </a:t>
            </a:r>
            <a:r>
              <a:rPr lang="en-US" sz="2400" dirty="0">
                <a:solidFill>
                  <a:schemeClr val="tx1"/>
                </a:solidFill>
                <a:latin typeface="Gill Sans MT (Body)"/>
              </a:rPr>
              <a:t>and take a </a:t>
            </a:r>
            <a:r>
              <a:rPr lang="en-US" sz="2400" b="1" dirty="0">
                <a:solidFill>
                  <a:srgbClr val="E68230"/>
                </a:solidFill>
                <a:latin typeface="Gill Sans MT (Body)"/>
              </a:rPr>
              <a:t>long time to design </a:t>
            </a:r>
            <a:r>
              <a:rPr lang="en-US" sz="2400" dirty="0">
                <a:solidFill>
                  <a:schemeClr val="tx1"/>
                </a:solidFill>
                <a:latin typeface="Gill Sans MT (Body)"/>
              </a:rPr>
              <a:t>and validate.</a:t>
            </a:r>
          </a:p>
          <a:p>
            <a:pPr lvl="1" indent="-285750" algn="just">
              <a:lnSpc>
                <a:spcPct val="100000"/>
              </a:lnSpc>
              <a:spcBef>
                <a:spcPts val="0"/>
              </a:spcBef>
              <a:buFont typeface="Arial" pitchFamily="34" charset="0"/>
              <a:buChar char="•"/>
            </a:pPr>
            <a:r>
              <a:rPr lang="en-US" sz="2400" dirty="0">
                <a:solidFill>
                  <a:schemeClr val="tx1"/>
                </a:solidFill>
                <a:latin typeface="Gill Sans MT (Body)"/>
              </a:rPr>
              <a:t>Learned Features are </a:t>
            </a:r>
            <a:r>
              <a:rPr lang="en-US" sz="2400" b="1" dirty="0">
                <a:solidFill>
                  <a:srgbClr val="E68230"/>
                </a:solidFill>
                <a:latin typeface="Gill Sans MT (Body)"/>
              </a:rPr>
              <a:t>easy to adapt</a:t>
            </a:r>
            <a:r>
              <a:rPr lang="en-US" sz="2400" dirty="0">
                <a:latin typeface="Gill Sans MT (Body)"/>
              </a:rPr>
              <a:t>, </a:t>
            </a:r>
            <a:r>
              <a:rPr lang="en-US" sz="2400" b="1" dirty="0">
                <a:solidFill>
                  <a:srgbClr val="E68230"/>
                </a:solidFill>
                <a:latin typeface="Gill Sans MT (Body)"/>
              </a:rPr>
              <a:t>fast</a:t>
            </a:r>
            <a:r>
              <a:rPr lang="en-US" sz="2400" dirty="0">
                <a:latin typeface="Gill Sans MT (Body)"/>
              </a:rPr>
              <a:t> </a:t>
            </a:r>
            <a:r>
              <a:rPr lang="en-US" sz="2400" dirty="0">
                <a:solidFill>
                  <a:schemeClr val="tx1"/>
                </a:solidFill>
                <a:latin typeface="Gill Sans MT (Body)"/>
              </a:rPr>
              <a:t>to learn.</a:t>
            </a:r>
          </a:p>
          <a:p>
            <a:pPr lvl="1" indent="-285750" algn="just">
              <a:lnSpc>
                <a:spcPct val="100000"/>
              </a:lnSpc>
              <a:spcBef>
                <a:spcPts val="0"/>
              </a:spcBef>
              <a:buFont typeface="Arial" pitchFamily="34" charset="0"/>
              <a:buChar char="•"/>
            </a:pPr>
            <a:r>
              <a:rPr lang="en-US" sz="2400" dirty="0">
                <a:solidFill>
                  <a:schemeClr val="tx1"/>
                </a:solidFill>
                <a:latin typeface="Gill Sans MT (Body)"/>
              </a:rPr>
              <a:t>Deep learning provides a very </a:t>
            </a:r>
            <a:r>
              <a:rPr lang="en-US" sz="2400" b="1" dirty="0">
                <a:solidFill>
                  <a:srgbClr val="E68230"/>
                </a:solidFill>
                <a:latin typeface="Gill Sans MT (Body)"/>
              </a:rPr>
              <a:t>flexible</a:t>
            </a:r>
            <a:r>
              <a:rPr lang="en-US" sz="2400" dirty="0">
                <a:solidFill>
                  <a:schemeClr val="tx1"/>
                </a:solidFill>
                <a:latin typeface="Gill Sans MT (Body)"/>
              </a:rPr>
              <a:t>, (almost?) </a:t>
            </a:r>
            <a:r>
              <a:rPr lang="en-US" sz="2400" b="1" dirty="0">
                <a:solidFill>
                  <a:srgbClr val="E68230"/>
                </a:solidFill>
                <a:latin typeface="Gill Sans MT (Body)"/>
              </a:rPr>
              <a:t>universal</a:t>
            </a:r>
            <a:r>
              <a:rPr lang="en-US" sz="2400" dirty="0">
                <a:latin typeface="Gill Sans MT (Body)"/>
              </a:rPr>
              <a:t>, </a:t>
            </a:r>
            <a:r>
              <a:rPr lang="en-US" sz="2400" dirty="0">
                <a:solidFill>
                  <a:schemeClr val="tx1"/>
                </a:solidFill>
                <a:latin typeface="Gill Sans MT (Body)"/>
              </a:rPr>
              <a:t>learnable framework for representing world, visual and linguistic information.</a:t>
            </a:r>
          </a:p>
          <a:p>
            <a:pPr lvl="1" indent="-285750" algn="just">
              <a:lnSpc>
                <a:spcPct val="100000"/>
              </a:lnSpc>
              <a:spcBef>
                <a:spcPts val="0"/>
              </a:spcBef>
              <a:buFont typeface="Arial" pitchFamily="34" charset="0"/>
              <a:buChar char="•"/>
            </a:pPr>
            <a:r>
              <a:rPr lang="en-US" sz="2400" dirty="0">
                <a:solidFill>
                  <a:schemeClr val="tx1"/>
                </a:solidFill>
                <a:latin typeface="Gill Sans MT (Body)"/>
              </a:rPr>
              <a:t>Can learn both unsupervised and supervised.</a:t>
            </a:r>
          </a:p>
          <a:p>
            <a:pPr lvl="1" indent="-285750" algn="just">
              <a:lnSpc>
                <a:spcPct val="100000"/>
              </a:lnSpc>
              <a:spcBef>
                <a:spcPts val="0"/>
              </a:spcBef>
              <a:buFont typeface="Arial" pitchFamily="34" charset="0"/>
              <a:buChar char="•"/>
            </a:pPr>
            <a:r>
              <a:rPr lang="en-US" sz="2400" dirty="0">
                <a:solidFill>
                  <a:schemeClr val="tx1"/>
                </a:solidFill>
                <a:latin typeface="Gill Sans MT (Body)"/>
              </a:rPr>
              <a:t>Effective </a:t>
            </a:r>
            <a:r>
              <a:rPr lang="en-US" sz="2400" b="1" dirty="0">
                <a:solidFill>
                  <a:srgbClr val="E68230"/>
                </a:solidFill>
                <a:latin typeface="Gill Sans MT (Body)"/>
              </a:rPr>
              <a:t>end-to-end</a:t>
            </a:r>
            <a:r>
              <a:rPr lang="en-US" sz="2400" dirty="0">
                <a:solidFill>
                  <a:schemeClr val="tx1"/>
                </a:solidFill>
                <a:latin typeface="Gill Sans MT (Body)"/>
              </a:rPr>
              <a:t> joint system learning.</a:t>
            </a:r>
          </a:p>
          <a:p>
            <a:pPr lvl="1" indent="-285750" algn="just">
              <a:lnSpc>
                <a:spcPct val="100000"/>
              </a:lnSpc>
              <a:spcBef>
                <a:spcPts val="0"/>
              </a:spcBef>
              <a:buFont typeface="Arial" pitchFamily="34" charset="0"/>
              <a:buChar char="•"/>
            </a:pPr>
            <a:r>
              <a:rPr lang="en-US" sz="2400" dirty="0">
                <a:solidFill>
                  <a:schemeClr val="tx1"/>
                </a:solidFill>
                <a:latin typeface="Gill Sans MT (Body)"/>
              </a:rPr>
              <a:t>Utilize large amounts of training data.</a:t>
            </a:r>
          </a:p>
          <a:p>
            <a:endParaRPr lang="en-US" dirty="0">
              <a:latin typeface="Gill Sans MT (Body)"/>
            </a:endParaRPr>
          </a:p>
        </p:txBody>
      </p:sp>
      <p:pic>
        <p:nvPicPr>
          <p:cNvPr id="6" name="Picture 5">
            <a:extLst>
              <a:ext uri="{FF2B5EF4-FFF2-40B4-BE49-F238E27FC236}">
                <a16:creationId xmlns:a16="http://schemas.microsoft.com/office/drawing/2014/main" id="{B704F89B-63EF-7384-540D-1DBE6A1D468D}"/>
              </a:ext>
            </a:extLst>
          </p:cNvPr>
          <p:cNvPicPr>
            <a:picLocks noChangeAspect="1"/>
          </p:cNvPicPr>
          <p:nvPr/>
        </p:nvPicPr>
        <p:blipFill>
          <a:blip r:embed="rId2"/>
          <a:stretch>
            <a:fillRect/>
          </a:stretch>
        </p:blipFill>
        <p:spPr>
          <a:xfrm>
            <a:off x="7757652" y="2016125"/>
            <a:ext cx="4286601" cy="3215361"/>
          </a:xfrm>
          <a:prstGeom prst="rect">
            <a:avLst/>
          </a:prstGeom>
        </p:spPr>
      </p:pic>
      <p:sp>
        <p:nvSpPr>
          <p:cNvPr id="7" name="Rectangle 6">
            <a:extLst>
              <a:ext uri="{FF2B5EF4-FFF2-40B4-BE49-F238E27FC236}">
                <a16:creationId xmlns:a16="http://schemas.microsoft.com/office/drawing/2014/main" id="{5B1E8762-B64C-9AFF-6C30-729E9C72576D}"/>
              </a:ext>
            </a:extLst>
          </p:cNvPr>
          <p:cNvSpPr/>
          <p:nvPr/>
        </p:nvSpPr>
        <p:spPr>
          <a:xfrm>
            <a:off x="7757651" y="5231486"/>
            <a:ext cx="4286602" cy="1015663"/>
          </a:xfrm>
          <a:prstGeom prst="rect">
            <a:avLst/>
          </a:prstGeom>
        </p:spPr>
        <p:txBody>
          <a:bodyPr wrap="square">
            <a:spAutoFit/>
          </a:bodyPr>
          <a:lstStyle/>
          <a:p>
            <a:r>
              <a:rPr lang="en-US" sz="2000" dirty="0">
                <a:latin typeface="Gill Sans MT (Body)"/>
              </a:rPr>
              <a:t>In ~2010 DL started outperforming other ML techniques first in speech and vision, then NLP</a:t>
            </a:r>
          </a:p>
        </p:txBody>
      </p:sp>
    </p:spTree>
    <p:extLst>
      <p:ext uri="{BB962C8B-B14F-4D97-AF65-F5344CB8AC3E}">
        <p14:creationId xmlns:p14="http://schemas.microsoft.com/office/powerpoint/2010/main" val="1920676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D5DD7-43D4-C247-FA6F-E9E5BB007A96}"/>
              </a:ext>
            </a:extLst>
          </p:cNvPr>
          <p:cNvSpPr>
            <a:spLocks noGrp="1"/>
          </p:cNvSpPr>
          <p:nvPr>
            <p:ph type="title"/>
          </p:nvPr>
        </p:nvSpPr>
        <p:spPr/>
        <p:txBody>
          <a:bodyPr/>
          <a:lstStyle/>
          <a:p>
            <a:pPr algn="ctr"/>
            <a:r>
              <a:rPr lang="en-US" sz="3200" b="1" dirty="0">
                <a:solidFill>
                  <a:srgbClr val="C00000"/>
                </a:solidFill>
              </a:rPr>
              <a:t>Deep Learning Basics</a:t>
            </a:r>
            <a:endParaRPr lang="en-IN" dirty="0"/>
          </a:p>
        </p:txBody>
      </p:sp>
      <p:sp>
        <p:nvSpPr>
          <p:cNvPr id="4" name="Slide Number Placeholder 3">
            <a:extLst>
              <a:ext uri="{FF2B5EF4-FFF2-40B4-BE49-F238E27FC236}">
                <a16:creationId xmlns:a16="http://schemas.microsoft.com/office/drawing/2014/main" id="{E3DE26BB-C91B-D869-CB63-5C6E885B6167}"/>
              </a:ext>
            </a:extLst>
          </p:cNvPr>
          <p:cNvSpPr>
            <a:spLocks noGrp="1"/>
          </p:cNvSpPr>
          <p:nvPr>
            <p:ph type="sldNum" sz="quarter" idx="12"/>
          </p:nvPr>
        </p:nvSpPr>
        <p:spPr/>
        <p:txBody>
          <a:bodyPr/>
          <a:lstStyle/>
          <a:p>
            <a:fld id="{CBABCCC1-BF11-4F37-963E-1BCD5B23FD72}" type="slidenum">
              <a:rPr lang="en-IN" smtClean="0"/>
              <a:t>7</a:t>
            </a:fld>
            <a:endParaRPr lang="en-IN"/>
          </a:p>
        </p:txBody>
      </p:sp>
      <p:pic>
        <p:nvPicPr>
          <p:cNvPr id="5" name="Picture 2">
            <a:extLst>
              <a:ext uri="{FF2B5EF4-FFF2-40B4-BE49-F238E27FC236}">
                <a16:creationId xmlns:a16="http://schemas.microsoft.com/office/drawing/2014/main" id="{0C82D9AA-C8D4-6F82-F79E-D65BD125261A}"/>
              </a:ext>
            </a:extLst>
          </p:cNvPr>
          <p:cNvPicPr>
            <a:picLocks noGrp="1" noChangeAspect="1" noChangeArrowheads="1"/>
          </p:cNvPicPr>
          <p:nvPr>
            <p:ph idx="1"/>
          </p:nvPr>
        </p:nvPicPr>
        <p:blipFill>
          <a:blip r:embed="rId2"/>
          <a:srcRect/>
          <a:stretch>
            <a:fillRect/>
          </a:stretch>
        </p:blipFill>
        <p:spPr bwMode="auto">
          <a:xfrm>
            <a:off x="1543665" y="2016124"/>
            <a:ext cx="9714271" cy="3686585"/>
          </a:xfrm>
          <a:prstGeom prst="rect">
            <a:avLst/>
          </a:prstGeom>
          <a:noFill/>
          <a:ln w="9525">
            <a:noFill/>
            <a:miter lim="800000"/>
            <a:headEnd/>
            <a:tailEnd/>
          </a:ln>
          <a:effectLst/>
        </p:spPr>
      </p:pic>
    </p:spTree>
    <p:extLst>
      <p:ext uri="{BB962C8B-B14F-4D97-AF65-F5344CB8AC3E}">
        <p14:creationId xmlns:p14="http://schemas.microsoft.com/office/powerpoint/2010/main" val="23606950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9E6A-9DED-CCBB-A460-07E2A3B1347C}"/>
              </a:ext>
            </a:extLst>
          </p:cNvPr>
          <p:cNvSpPr>
            <a:spLocks noGrp="1"/>
          </p:cNvSpPr>
          <p:nvPr>
            <p:ph type="title"/>
          </p:nvPr>
        </p:nvSpPr>
        <p:spPr/>
        <p:txBody>
          <a:bodyPr/>
          <a:lstStyle/>
          <a:p>
            <a:pPr algn="ctr"/>
            <a:r>
              <a:rPr lang="en-US" sz="3200" b="1" dirty="0">
                <a:solidFill>
                  <a:srgbClr val="C00000"/>
                </a:solidFill>
              </a:rPr>
              <a:t>Deep Learning Basics (cont..)</a:t>
            </a:r>
            <a:endParaRPr lang="en-IN" dirty="0"/>
          </a:p>
        </p:txBody>
      </p:sp>
      <p:sp>
        <p:nvSpPr>
          <p:cNvPr id="4" name="Slide Number Placeholder 3">
            <a:extLst>
              <a:ext uri="{FF2B5EF4-FFF2-40B4-BE49-F238E27FC236}">
                <a16:creationId xmlns:a16="http://schemas.microsoft.com/office/drawing/2014/main" id="{AC3C3C6A-2E09-6F41-2EFF-3B909A9B212F}"/>
              </a:ext>
            </a:extLst>
          </p:cNvPr>
          <p:cNvSpPr>
            <a:spLocks noGrp="1"/>
          </p:cNvSpPr>
          <p:nvPr>
            <p:ph type="sldNum" sz="quarter" idx="12"/>
          </p:nvPr>
        </p:nvSpPr>
        <p:spPr/>
        <p:txBody>
          <a:bodyPr/>
          <a:lstStyle/>
          <a:p>
            <a:fld id="{CBABCCC1-BF11-4F37-963E-1BCD5B23FD72}" type="slidenum">
              <a:rPr lang="en-IN" smtClean="0"/>
              <a:t>8</a:t>
            </a:fld>
            <a:endParaRPr lang="en-IN"/>
          </a:p>
        </p:txBody>
      </p:sp>
      <p:sp>
        <p:nvSpPr>
          <p:cNvPr id="5" name="Text Placeholder 11">
            <a:extLst>
              <a:ext uri="{FF2B5EF4-FFF2-40B4-BE49-F238E27FC236}">
                <a16:creationId xmlns:a16="http://schemas.microsoft.com/office/drawing/2014/main" id="{B061D4F9-8FD7-FEAC-D1BA-423951299A80}"/>
              </a:ext>
            </a:extLst>
          </p:cNvPr>
          <p:cNvSpPr>
            <a:spLocks noGrp="1"/>
          </p:cNvSpPr>
          <p:nvPr>
            <p:ph idx="1"/>
          </p:nvPr>
        </p:nvSpPr>
        <p:spPr>
          <a:xfrm>
            <a:off x="1450975" y="2016124"/>
            <a:ext cx="9604375" cy="3834069"/>
          </a:xfrm>
        </p:spPr>
        <p:txBody>
          <a:bodyPr>
            <a:normAutofit fontScale="25000" lnSpcReduction="20000"/>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just"/>
            <a:r>
              <a:rPr lang="en-US" sz="8000" dirty="0">
                <a:solidFill>
                  <a:schemeClr val="tx1"/>
                </a:solidFill>
              </a:rPr>
              <a:t>A Deep neural network consists of a </a:t>
            </a:r>
            <a:r>
              <a:rPr lang="en-US" sz="8000" b="1" dirty="0">
                <a:solidFill>
                  <a:srgbClr val="E68230"/>
                </a:solidFill>
              </a:rPr>
              <a:t>hierarchy of layers</a:t>
            </a:r>
            <a:r>
              <a:rPr lang="en-US" sz="8000" dirty="0">
                <a:solidFill>
                  <a:schemeClr val="tx1"/>
                </a:solidFill>
              </a:rPr>
              <a:t>, where by each layer </a:t>
            </a:r>
            <a:r>
              <a:rPr lang="en-US" sz="8000" b="1" dirty="0">
                <a:solidFill>
                  <a:srgbClr val="E68230"/>
                </a:solidFill>
              </a:rPr>
              <a:t>transforms the input data </a:t>
            </a:r>
            <a:r>
              <a:rPr lang="en-US" sz="8000" dirty="0">
                <a:solidFill>
                  <a:schemeClr val="tx1"/>
                </a:solidFill>
              </a:rPr>
              <a:t>into more abstract representations (e.g. edge-&gt; nose-&gt;face). The output layer combines those features to make predictions. </a:t>
            </a:r>
          </a:p>
        </p:txBody>
      </p:sp>
      <p:pic>
        <p:nvPicPr>
          <p:cNvPr id="21506" name="Picture 2"/>
          <p:cNvPicPr>
            <a:picLocks noChangeAspect="1" noChangeArrowheads="1"/>
          </p:cNvPicPr>
          <p:nvPr/>
        </p:nvPicPr>
        <p:blipFill>
          <a:blip r:embed="rId2"/>
          <a:srcRect/>
          <a:stretch>
            <a:fillRect/>
          </a:stretch>
        </p:blipFill>
        <p:spPr bwMode="auto">
          <a:xfrm>
            <a:off x="1582994" y="2016126"/>
            <a:ext cx="9471860" cy="2584776"/>
          </a:xfrm>
          <a:prstGeom prst="rect">
            <a:avLst/>
          </a:prstGeom>
          <a:noFill/>
          <a:ln w="9525">
            <a:noFill/>
            <a:miter lim="800000"/>
            <a:headEnd/>
            <a:tailEnd/>
          </a:ln>
          <a:effectLst/>
        </p:spPr>
      </p:pic>
    </p:spTree>
    <p:extLst>
      <p:ext uri="{BB962C8B-B14F-4D97-AF65-F5344CB8AC3E}">
        <p14:creationId xmlns:p14="http://schemas.microsoft.com/office/powerpoint/2010/main" val="2111224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F2B4F-87E5-539C-79D7-7BE6C4B3C0D2}"/>
              </a:ext>
            </a:extLst>
          </p:cNvPr>
          <p:cNvSpPr>
            <a:spLocks noGrp="1"/>
          </p:cNvSpPr>
          <p:nvPr>
            <p:ph type="title"/>
          </p:nvPr>
        </p:nvSpPr>
        <p:spPr/>
        <p:txBody>
          <a:bodyPr/>
          <a:lstStyle/>
          <a:p>
            <a:pPr algn="ctr"/>
            <a:r>
              <a:rPr lang="en-US" sz="3200" b="1" dirty="0">
                <a:solidFill>
                  <a:srgbClr val="C00000"/>
                </a:solidFill>
              </a:rPr>
              <a:t>Deep Learning Basics (cont..) ANN</a:t>
            </a:r>
            <a:endParaRPr lang="en-IN" dirty="0"/>
          </a:p>
        </p:txBody>
      </p:sp>
      <p:sp>
        <p:nvSpPr>
          <p:cNvPr id="4" name="Slide Number Placeholder 3">
            <a:extLst>
              <a:ext uri="{FF2B5EF4-FFF2-40B4-BE49-F238E27FC236}">
                <a16:creationId xmlns:a16="http://schemas.microsoft.com/office/drawing/2014/main" id="{965A2A82-1688-942D-2E4E-A11BE7DA5FE8}"/>
              </a:ext>
            </a:extLst>
          </p:cNvPr>
          <p:cNvSpPr>
            <a:spLocks noGrp="1"/>
          </p:cNvSpPr>
          <p:nvPr>
            <p:ph type="sldNum" sz="quarter" idx="12"/>
          </p:nvPr>
        </p:nvSpPr>
        <p:spPr/>
        <p:txBody>
          <a:bodyPr/>
          <a:lstStyle/>
          <a:p>
            <a:fld id="{CBABCCC1-BF11-4F37-963E-1BCD5B23FD72}" type="slidenum">
              <a:rPr lang="en-IN" smtClean="0"/>
              <a:t>9</a:t>
            </a:fld>
            <a:endParaRPr lang="en-IN"/>
          </a:p>
        </p:txBody>
      </p:sp>
      <p:sp>
        <p:nvSpPr>
          <p:cNvPr id="5" name="Text Placeholder 11">
            <a:extLst>
              <a:ext uri="{FF2B5EF4-FFF2-40B4-BE49-F238E27FC236}">
                <a16:creationId xmlns:a16="http://schemas.microsoft.com/office/drawing/2014/main" id="{C1C32A6B-5D55-5472-E598-913A40A10050}"/>
              </a:ext>
            </a:extLst>
          </p:cNvPr>
          <p:cNvSpPr>
            <a:spLocks noGrp="1"/>
          </p:cNvSpPr>
          <p:nvPr>
            <p:ph idx="1"/>
          </p:nvPr>
        </p:nvSpPr>
        <p:spPr>
          <a:xfrm>
            <a:off x="1450975" y="2016125"/>
            <a:ext cx="9604375" cy="3449638"/>
          </a:xfrm>
        </p:spPr>
        <p:txBody>
          <a:bodyPr/>
          <a:lstStyle/>
          <a:p>
            <a:r>
              <a:rPr lang="en-US" dirty="0">
                <a:solidFill>
                  <a:schemeClr val="tx1"/>
                </a:solidFill>
              </a:rPr>
              <a:t>Consists of one input, one output and multiple fully-connected hidden layers in-between. Each layer is represented as a series of neurons and </a:t>
            </a:r>
            <a:r>
              <a:rPr lang="en-US" b="1" dirty="0">
                <a:solidFill>
                  <a:srgbClr val="E68230"/>
                </a:solidFill>
              </a:rPr>
              <a:t>progressively extracts higher and higher-level features</a:t>
            </a:r>
            <a:r>
              <a:rPr lang="en-US" dirty="0">
                <a:solidFill>
                  <a:schemeClr val="tx1"/>
                </a:solidFill>
              </a:rPr>
              <a:t> of the input  until the final layer essentially makes a decision about what the input shows. The more layers the network has, the higher level features it will learn.</a:t>
            </a:r>
          </a:p>
        </p:txBody>
      </p:sp>
      <p:pic>
        <p:nvPicPr>
          <p:cNvPr id="6" name="Picture 2">
            <a:extLst>
              <a:ext uri="{FF2B5EF4-FFF2-40B4-BE49-F238E27FC236}">
                <a16:creationId xmlns:a16="http://schemas.microsoft.com/office/drawing/2014/main" id="{D2F132C5-432F-823A-C2F1-5F75E6B71D13}"/>
              </a:ext>
            </a:extLst>
          </p:cNvPr>
          <p:cNvPicPr>
            <a:picLocks noChangeAspect="1" noChangeArrowheads="1"/>
          </p:cNvPicPr>
          <p:nvPr/>
        </p:nvPicPr>
        <p:blipFill>
          <a:blip r:embed="rId2"/>
          <a:srcRect/>
          <a:stretch>
            <a:fillRect/>
          </a:stretch>
        </p:blipFill>
        <p:spPr bwMode="auto">
          <a:xfrm>
            <a:off x="3185652" y="3540740"/>
            <a:ext cx="7344696" cy="2463002"/>
          </a:xfrm>
          <a:prstGeom prst="rect">
            <a:avLst/>
          </a:prstGeom>
          <a:noFill/>
          <a:ln w="9525">
            <a:noFill/>
            <a:miter lim="800000"/>
            <a:headEnd/>
            <a:tailEnd/>
          </a:ln>
          <a:effectLst/>
        </p:spPr>
      </p:pic>
    </p:spTree>
    <p:extLst>
      <p:ext uri="{BB962C8B-B14F-4D97-AF65-F5344CB8AC3E}">
        <p14:creationId xmlns:p14="http://schemas.microsoft.com/office/powerpoint/2010/main" val="1959789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5973E-BF9A-E1B6-2F47-DC41D8A3DCFD}"/>
              </a:ext>
            </a:extLst>
          </p:cNvPr>
          <p:cNvSpPr>
            <a:spLocks noGrp="1"/>
          </p:cNvSpPr>
          <p:nvPr>
            <p:ph type="title"/>
          </p:nvPr>
        </p:nvSpPr>
        <p:spPr/>
        <p:txBody>
          <a:bodyPr/>
          <a:lstStyle/>
          <a:p>
            <a:r>
              <a:rPr lang="en-US" sz="3200" b="1" dirty="0">
                <a:solidFill>
                  <a:srgbClr val="C00000"/>
                </a:solidFill>
              </a:rPr>
              <a:t>Artificial Neural Network</a:t>
            </a:r>
            <a:endParaRPr lang="en-IN" dirty="0"/>
          </a:p>
        </p:txBody>
      </p:sp>
      <p:sp>
        <p:nvSpPr>
          <p:cNvPr id="4" name="Slide Number Placeholder 3">
            <a:extLst>
              <a:ext uri="{FF2B5EF4-FFF2-40B4-BE49-F238E27FC236}">
                <a16:creationId xmlns:a16="http://schemas.microsoft.com/office/drawing/2014/main" id="{EA175EEE-5AFC-A057-BBCE-A1E048603834}"/>
              </a:ext>
            </a:extLst>
          </p:cNvPr>
          <p:cNvSpPr>
            <a:spLocks noGrp="1"/>
          </p:cNvSpPr>
          <p:nvPr>
            <p:ph type="sldNum" sz="quarter" idx="12"/>
          </p:nvPr>
        </p:nvSpPr>
        <p:spPr/>
        <p:txBody>
          <a:bodyPr/>
          <a:lstStyle/>
          <a:p>
            <a:fld id="{CBABCCC1-BF11-4F37-963E-1BCD5B23FD72}" type="slidenum">
              <a:rPr lang="en-IN" smtClean="0"/>
              <a:t>10</a:t>
            </a:fld>
            <a:endParaRPr lang="en-IN"/>
          </a:p>
        </p:txBody>
      </p:sp>
      <p:sp>
        <p:nvSpPr>
          <p:cNvPr id="5" name="Text Placeholder 11">
            <a:extLst>
              <a:ext uri="{FF2B5EF4-FFF2-40B4-BE49-F238E27FC236}">
                <a16:creationId xmlns:a16="http://schemas.microsoft.com/office/drawing/2014/main" id="{ED21DDAC-92C5-6B5F-64DC-C2008AFB33EC}"/>
              </a:ext>
            </a:extLst>
          </p:cNvPr>
          <p:cNvSpPr>
            <a:spLocks noGrp="1"/>
          </p:cNvSpPr>
          <p:nvPr>
            <p:ph idx="1"/>
          </p:nvPr>
        </p:nvSpPr>
        <p:spPr>
          <a:xfrm>
            <a:off x="1450975" y="2016125"/>
            <a:ext cx="9604375" cy="3449638"/>
          </a:xfrm>
        </p:spPr>
        <p:txBody>
          <a:bodyPr/>
          <a:lstStyle/>
          <a:p>
            <a:pPr algn="just"/>
            <a:r>
              <a:rPr lang="en-US" dirty="0">
                <a:solidFill>
                  <a:schemeClr val="tx1"/>
                </a:solidFill>
              </a:rPr>
              <a:t>An Artificial Neuron contains a nonlinear activation function and has several incoming and outgoing weighted connections. </a:t>
            </a:r>
          </a:p>
          <a:p>
            <a:pPr algn="just"/>
            <a:r>
              <a:rPr lang="en-US" dirty="0">
                <a:solidFill>
                  <a:schemeClr val="tx1"/>
                </a:solidFill>
              </a:rPr>
              <a:t>Neurons are trained to filter and detect specific features or patterns (e.g. edge, nose) by receiving weighted input, transforming it with the activation function and passing it to the outgoing connections.</a:t>
            </a:r>
          </a:p>
        </p:txBody>
      </p:sp>
      <p:pic>
        <p:nvPicPr>
          <p:cNvPr id="6" name="Picture 2">
            <a:extLst>
              <a:ext uri="{FF2B5EF4-FFF2-40B4-BE49-F238E27FC236}">
                <a16:creationId xmlns:a16="http://schemas.microsoft.com/office/drawing/2014/main" id="{8A56FC9E-31EA-3C8F-FC0F-31B10B5504DB}"/>
              </a:ext>
            </a:extLst>
          </p:cNvPr>
          <p:cNvPicPr>
            <a:picLocks noChangeAspect="1" noChangeArrowheads="1"/>
          </p:cNvPicPr>
          <p:nvPr/>
        </p:nvPicPr>
        <p:blipFill>
          <a:blip r:embed="rId2"/>
          <a:srcRect/>
          <a:stretch>
            <a:fillRect/>
          </a:stretch>
        </p:blipFill>
        <p:spPr bwMode="auto">
          <a:xfrm>
            <a:off x="4633507" y="3716595"/>
            <a:ext cx="6421347" cy="2212258"/>
          </a:xfrm>
          <a:prstGeom prst="rect">
            <a:avLst/>
          </a:prstGeom>
          <a:noFill/>
          <a:ln w="9525">
            <a:noFill/>
            <a:miter lim="800000"/>
            <a:headEnd/>
            <a:tailEnd/>
          </a:ln>
          <a:effectLst/>
        </p:spPr>
      </p:pic>
    </p:spTree>
    <p:extLst>
      <p:ext uri="{BB962C8B-B14F-4D97-AF65-F5344CB8AC3E}">
        <p14:creationId xmlns:p14="http://schemas.microsoft.com/office/powerpoint/2010/main" val="881542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F032D-653E-B464-7512-F0B4BBD04AA4}"/>
              </a:ext>
            </a:extLst>
          </p:cNvPr>
          <p:cNvSpPr>
            <a:spLocks noGrp="1"/>
          </p:cNvSpPr>
          <p:nvPr>
            <p:ph type="title"/>
          </p:nvPr>
        </p:nvSpPr>
        <p:spPr/>
        <p:txBody>
          <a:bodyPr/>
          <a:lstStyle/>
          <a:p>
            <a:pPr algn="ctr"/>
            <a:r>
              <a:rPr lang="en-US" sz="3200" b="1" dirty="0">
                <a:solidFill>
                  <a:srgbClr val="C00000"/>
                </a:solidFill>
              </a:rPr>
              <a:t>Deep Learning History</a:t>
            </a:r>
            <a:endParaRPr lang="en-IN" dirty="0"/>
          </a:p>
        </p:txBody>
      </p:sp>
      <p:sp>
        <p:nvSpPr>
          <p:cNvPr id="4" name="Slide Number Placeholder 3">
            <a:extLst>
              <a:ext uri="{FF2B5EF4-FFF2-40B4-BE49-F238E27FC236}">
                <a16:creationId xmlns:a16="http://schemas.microsoft.com/office/drawing/2014/main" id="{B3212216-0B50-D790-57C2-E8A8A61D5EDE}"/>
              </a:ext>
            </a:extLst>
          </p:cNvPr>
          <p:cNvSpPr>
            <a:spLocks noGrp="1"/>
          </p:cNvSpPr>
          <p:nvPr>
            <p:ph type="sldNum" sz="quarter" idx="12"/>
          </p:nvPr>
        </p:nvSpPr>
        <p:spPr/>
        <p:txBody>
          <a:bodyPr/>
          <a:lstStyle/>
          <a:p>
            <a:fld id="{CBABCCC1-BF11-4F37-963E-1BCD5B23FD72}" type="slidenum">
              <a:rPr lang="en-IN" smtClean="0"/>
              <a:t>11</a:t>
            </a:fld>
            <a:endParaRPr lang="en-IN"/>
          </a:p>
        </p:txBody>
      </p:sp>
      <p:sp>
        <p:nvSpPr>
          <p:cNvPr id="5" name="Text Placeholder 11">
            <a:extLst>
              <a:ext uri="{FF2B5EF4-FFF2-40B4-BE49-F238E27FC236}">
                <a16:creationId xmlns:a16="http://schemas.microsoft.com/office/drawing/2014/main" id="{1DBD7DB7-BC2D-2321-AC56-9C6F86E51C25}"/>
              </a:ext>
            </a:extLst>
          </p:cNvPr>
          <p:cNvSpPr>
            <a:spLocks noGrp="1"/>
          </p:cNvSpPr>
          <p:nvPr>
            <p:ph idx="1"/>
          </p:nvPr>
        </p:nvSpPr>
        <p:spPr>
          <a:xfrm>
            <a:off x="1199535" y="2016125"/>
            <a:ext cx="10461523" cy="4037356"/>
          </a:xfrm>
        </p:spPr>
        <p:txBody>
          <a:bodyPr>
            <a:normAutofit/>
          </a:bodyPr>
          <a:lstStyle/>
          <a:p>
            <a:pPr algn="just">
              <a:spcBef>
                <a:spcPts val="0"/>
              </a:spcBef>
            </a:pPr>
            <a:r>
              <a:rPr lang="en-US" b="1" dirty="0">
                <a:solidFill>
                  <a:schemeClr val="tx1"/>
                </a:solidFill>
              </a:rPr>
              <a:t>Reticular Theory: </a:t>
            </a:r>
            <a:r>
              <a:rPr lang="en-US" dirty="0">
                <a:solidFill>
                  <a:schemeClr val="tx1"/>
                </a:solidFill>
              </a:rPr>
              <a:t>Joseph von Gerlach proposed that the nervous system is a single continuous network as opposed to a network of many discrete cells!</a:t>
            </a:r>
          </a:p>
          <a:p>
            <a:pPr algn="just">
              <a:spcBef>
                <a:spcPts val="0"/>
              </a:spcBef>
            </a:pPr>
            <a:r>
              <a:rPr lang="en-US" b="1" dirty="0">
                <a:solidFill>
                  <a:schemeClr val="tx1"/>
                </a:solidFill>
              </a:rPr>
              <a:t>Staining Technique: </a:t>
            </a:r>
            <a:r>
              <a:rPr lang="en-US" dirty="0">
                <a:solidFill>
                  <a:schemeClr val="tx1"/>
                </a:solidFill>
              </a:rPr>
              <a:t>Camillo Golgi discovered a chemical reaction that allowed him to examine nervous tissue in much greater detail than ever before He was a proponent of Reticular theory.</a:t>
            </a:r>
          </a:p>
          <a:p>
            <a:pPr algn="just">
              <a:spcBef>
                <a:spcPts val="0"/>
              </a:spcBef>
            </a:pPr>
            <a:r>
              <a:rPr lang="en-US" b="1" dirty="0">
                <a:solidFill>
                  <a:schemeClr val="tx1"/>
                </a:solidFill>
              </a:rPr>
              <a:t>Neuron Doctrine: </a:t>
            </a:r>
            <a:r>
              <a:rPr lang="es-ES" dirty="0">
                <a:solidFill>
                  <a:schemeClr val="tx1"/>
                </a:solidFill>
              </a:rPr>
              <a:t>Santiago Ramón y Cajal </a:t>
            </a:r>
            <a:r>
              <a:rPr lang="es-ES" dirty="0" err="1">
                <a:solidFill>
                  <a:schemeClr val="tx1"/>
                </a:solidFill>
              </a:rPr>
              <a:t>used</a:t>
            </a:r>
            <a:r>
              <a:rPr lang="es-ES" dirty="0">
                <a:solidFill>
                  <a:schemeClr val="tx1"/>
                </a:solidFill>
              </a:rPr>
              <a:t> </a:t>
            </a:r>
            <a:r>
              <a:rPr lang="es-ES" dirty="0" err="1">
                <a:solidFill>
                  <a:schemeClr val="tx1"/>
                </a:solidFill>
              </a:rPr>
              <a:t>Golgi’s</a:t>
            </a:r>
            <a:r>
              <a:rPr lang="es-ES" dirty="0">
                <a:solidFill>
                  <a:schemeClr val="tx1"/>
                </a:solidFill>
              </a:rPr>
              <a:t> </a:t>
            </a:r>
            <a:r>
              <a:rPr lang="en-US" dirty="0">
                <a:solidFill>
                  <a:schemeClr val="tx1"/>
                </a:solidFill>
              </a:rPr>
              <a:t>technique to study the nervous system and proposed that it is actually made up of discrete individual cells forming a network (as opposed to a single continuous network).</a:t>
            </a:r>
          </a:p>
        </p:txBody>
      </p:sp>
      <p:pic>
        <p:nvPicPr>
          <p:cNvPr id="23554" name="Picture 2"/>
          <p:cNvPicPr>
            <a:picLocks noChangeAspect="1" noChangeArrowheads="1"/>
          </p:cNvPicPr>
          <p:nvPr/>
        </p:nvPicPr>
        <p:blipFill>
          <a:blip r:embed="rId2"/>
          <a:srcRect/>
          <a:stretch>
            <a:fillRect/>
          </a:stretch>
        </p:blipFill>
        <p:spPr bwMode="auto">
          <a:xfrm>
            <a:off x="1809064" y="4624947"/>
            <a:ext cx="9384890" cy="1344128"/>
          </a:xfrm>
          <a:prstGeom prst="rect">
            <a:avLst/>
          </a:prstGeom>
          <a:noFill/>
          <a:ln w="9525">
            <a:noFill/>
            <a:miter lim="800000"/>
            <a:headEnd/>
            <a:tailEnd/>
          </a:ln>
          <a:effectLst/>
        </p:spPr>
      </p:pic>
    </p:spTree>
    <p:extLst>
      <p:ext uri="{BB962C8B-B14F-4D97-AF65-F5344CB8AC3E}">
        <p14:creationId xmlns:p14="http://schemas.microsoft.com/office/powerpoint/2010/main" val="1332806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CB90-6A9D-EEAD-EC97-9B702FC7388D}"/>
              </a:ext>
            </a:extLst>
          </p:cNvPr>
          <p:cNvSpPr>
            <a:spLocks noGrp="1"/>
          </p:cNvSpPr>
          <p:nvPr>
            <p:ph type="title"/>
          </p:nvPr>
        </p:nvSpPr>
        <p:spPr/>
        <p:txBody>
          <a:bodyPr/>
          <a:lstStyle/>
          <a:p>
            <a:r>
              <a:rPr lang="en-US" sz="3200" b="1" dirty="0">
                <a:solidFill>
                  <a:srgbClr val="C00000"/>
                </a:solidFill>
              </a:rPr>
              <a:t>Deep Learning History (cont..)</a:t>
            </a:r>
            <a:endParaRPr lang="en-IN" dirty="0"/>
          </a:p>
        </p:txBody>
      </p:sp>
      <p:sp>
        <p:nvSpPr>
          <p:cNvPr id="3" name="Content Placeholder 2">
            <a:extLst>
              <a:ext uri="{FF2B5EF4-FFF2-40B4-BE49-F238E27FC236}">
                <a16:creationId xmlns:a16="http://schemas.microsoft.com/office/drawing/2014/main" id="{45947F2F-7E6A-4555-A413-F06C61219F27}"/>
              </a:ext>
            </a:extLst>
          </p:cNvPr>
          <p:cNvSpPr>
            <a:spLocks noGrp="1"/>
          </p:cNvSpPr>
          <p:nvPr>
            <p:ph idx="1"/>
          </p:nvPr>
        </p:nvSpPr>
        <p:spPr>
          <a:xfrm>
            <a:off x="757085" y="2015732"/>
            <a:ext cx="10422192" cy="4139262"/>
          </a:xfrm>
        </p:spPr>
        <p:txBody>
          <a:bodyPr>
            <a:normAutofit/>
          </a:bodyPr>
          <a:lstStyle/>
          <a:p>
            <a:pPr algn="just">
              <a:spcBef>
                <a:spcPts val="0"/>
              </a:spcBef>
            </a:pPr>
            <a:r>
              <a:rPr lang="en-US" sz="1800" b="1" dirty="0">
                <a:solidFill>
                  <a:schemeClr val="tx1"/>
                </a:solidFill>
              </a:rPr>
              <a:t>The Term Neuron: </a:t>
            </a:r>
            <a:r>
              <a:rPr lang="en-US" sz="1800" dirty="0">
                <a:solidFill>
                  <a:schemeClr val="tx1"/>
                </a:solidFill>
              </a:rPr>
              <a:t>The term neuron was coined by Heinrich Wilhelm Gottfried von </a:t>
            </a:r>
            <a:r>
              <a:rPr lang="en-US" sz="1800" dirty="0" err="1">
                <a:solidFill>
                  <a:schemeClr val="tx1"/>
                </a:solidFill>
              </a:rPr>
              <a:t>Waldeyer</a:t>
            </a:r>
            <a:r>
              <a:rPr lang="en-US" sz="1800" dirty="0">
                <a:solidFill>
                  <a:schemeClr val="tx1"/>
                </a:solidFill>
              </a:rPr>
              <a:t>-Hartz around 1891. He further consolidated the Neuron Doctrine.</a:t>
            </a:r>
          </a:p>
          <a:p>
            <a:pPr algn="just"/>
            <a:r>
              <a:rPr lang="en-US" sz="1800" b="1" dirty="0">
                <a:solidFill>
                  <a:schemeClr val="tx1"/>
                </a:solidFill>
              </a:rPr>
              <a:t>Nobel Prize: </a:t>
            </a:r>
            <a:r>
              <a:rPr lang="en-US" sz="1800" dirty="0">
                <a:solidFill>
                  <a:schemeClr val="tx1"/>
                </a:solidFill>
              </a:rPr>
              <a:t>Both Golgi (reticular theory) and </a:t>
            </a:r>
            <a:r>
              <a:rPr lang="en-US" sz="1800" dirty="0" err="1">
                <a:solidFill>
                  <a:schemeClr val="tx1"/>
                </a:solidFill>
              </a:rPr>
              <a:t>Cajal</a:t>
            </a:r>
            <a:r>
              <a:rPr lang="en-US" sz="1800" dirty="0">
                <a:solidFill>
                  <a:schemeClr val="tx1"/>
                </a:solidFill>
              </a:rPr>
              <a:t> (neuron doctrine) were jointly awarded the 1906 Nobel Prize for Physiology or Medicine, that resulted in lasting conflicting ideas and controversies between the two scientists.</a:t>
            </a:r>
          </a:p>
          <a:p>
            <a:pPr algn="just"/>
            <a:r>
              <a:rPr lang="en-US" sz="1800" b="1" dirty="0">
                <a:solidFill>
                  <a:schemeClr val="tx1"/>
                </a:solidFill>
              </a:rPr>
              <a:t>The Final Word: </a:t>
            </a:r>
            <a:r>
              <a:rPr lang="en-US" sz="1800" dirty="0">
                <a:solidFill>
                  <a:schemeClr val="tx1"/>
                </a:solidFill>
              </a:rPr>
              <a:t>In 1950s electron microscopy finally confirmed the neuron doctrine by unambiguously demonstrating that nerve cells were individual cells interconnected through synapses (a network of many individual neurons).</a:t>
            </a:r>
          </a:p>
          <a:p>
            <a:endParaRPr lang="en-IN" sz="1800" dirty="0"/>
          </a:p>
        </p:txBody>
      </p:sp>
      <p:sp>
        <p:nvSpPr>
          <p:cNvPr id="4" name="Slide Number Placeholder 3">
            <a:extLst>
              <a:ext uri="{FF2B5EF4-FFF2-40B4-BE49-F238E27FC236}">
                <a16:creationId xmlns:a16="http://schemas.microsoft.com/office/drawing/2014/main" id="{8D31FD2C-884D-178D-998A-F9439245E4E0}"/>
              </a:ext>
            </a:extLst>
          </p:cNvPr>
          <p:cNvSpPr>
            <a:spLocks noGrp="1"/>
          </p:cNvSpPr>
          <p:nvPr>
            <p:ph type="sldNum" sz="quarter" idx="12"/>
          </p:nvPr>
        </p:nvSpPr>
        <p:spPr/>
        <p:txBody>
          <a:bodyPr/>
          <a:lstStyle/>
          <a:p>
            <a:fld id="{CBABCCC1-BF11-4F37-963E-1BCD5B23FD72}" type="slidenum">
              <a:rPr lang="en-IN" smtClean="0"/>
              <a:t>12</a:t>
            </a:fld>
            <a:endParaRPr lang="en-IN"/>
          </a:p>
        </p:txBody>
      </p:sp>
      <p:pic>
        <p:nvPicPr>
          <p:cNvPr id="5" name="Picture 2">
            <a:extLst>
              <a:ext uri="{FF2B5EF4-FFF2-40B4-BE49-F238E27FC236}">
                <a16:creationId xmlns:a16="http://schemas.microsoft.com/office/drawing/2014/main" id="{DD58C393-13A1-A2D5-B2C6-5798E2018E3E}"/>
              </a:ext>
            </a:extLst>
          </p:cNvPr>
          <p:cNvPicPr>
            <a:picLocks noChangeAspect="1" noChangeArrowheads="1"/>
          </p:cNvPicPr>
          <p:nvPr/>
        </p:nvPicPr>
        <p:blipFill>
          <a:blip r:embed="rId2"/>
          <a:srcRect/>
          <a:stretch>
            <a:fillRect/>
          </a:stretch>
        </p:blipFill>
        <p:spPr bwMode="auto">
          <a:xfrm>
            <a:off x="1959076" y="4873844"/>
            <a:ext cx="8273845" cy="1185002"/>
          </a:xfrm>
          <a:prstGeom prst="rect">
            <a:avLst/>
          </a:prstGeom>
          <a:noFill/>
          <a:ln w="9525">
            <a:noFill/>
            <a:miter lim="800000"/>
            <a:headEnd/>
            <a:tailEnd/>
          </a:ln>
          <a:effectLst/>
        </p:spPr>
      </p:pic>
    </p:spTree>
    <p:extLst>
      <p:ext uri="{BB962C8B-B14F-4D97-AF65-F5344CB8AC3E}">
        <p14:creationId xmlns:p14="http://schemas.microsoft.com/office/powerpoint/2010/main" val="2463840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853E4-326A-BC7D-64EC-DE0D411E74EF}"/>
              </a:ext>
            </a:extLst>
          </p:cNvPr>
          <p:cNvSpPr>
            <a:spLocks noGrp="1"/>
          </p:cNvSpPr>
          <p:nvPr>
            <p:ph type="title"/>
          </p:nvPr>
        </p:nvSpPr>
        <p:spPr/>
        <p:txBody>
          <a:bodyPr/>
          <a:lstStyle/>
          <a:p>
            <a:pPr algn="ctr"/>
            <a:r>
              <a:rPr lang="en-US" sz="3200" b="1" dirty="0">
                <a:solidFill>
                  <a:srgbClr val="C00000"/>
                </a:solidFill>
              </a:rPr>
              <a:t>Evolution of Deep Learning</a:t>
            </a:r>
            <a:endParaRPr lang="en-IN" dirty="0"/>
          </a:p>
        </p:txBody>
      </p:sp>
      <p:sp>
        <p:nvSpPr>
          <p:cNvPr id="4" name="Slide Number Placeholder 3">
            <a:extLst>
              <a:ext uri="{FF2B5EF4-FFF2-40B4-BE49-F238E27FC236}">
                <a16:creationId xmlns:a16="http://schemas.microsoft.com/office/drawing/2014/main" id="{1EB127E5-378F-41BE-DD85-4B9AD151752B}"/>
              </a:ext>
            </a:extLst>
          </p:cNvPr>
          <p:cNvSpPr>
            <a:spLocks noGrp="1"/>
          </p:cNvSpPr>
          <p:nvPr>
            <p:ph type="sldNum" sz="quarter" idx="12"/>
          </p:nvPr>
        </p:nvSpPr>
        <p:spPr/>
        <p:txBody>
          <a:bodyPr/>
          <a:lstStyle/>
          <a:p>
            <a:fld id="{CBABCCC1-BF11-4F37-963E-1BCD5B23FD72}" type="slidenum">
              <a:rPr lang="en-IN" smtClean="0"/>
              <a:t>13</a:t>
            </a:fld>
            <a:endParaRPr lang="en-IN"/>
          </a:p>
        </p:txBody>
      </p:sp>
      <p:pic>
        <p:nvPicPr>
          <p:cNvPr id="5" name="Picture 2">
            <a:extLst>
              <a:ext uri="{FF2B5EF4-FFF2-40B4-BE49-F238E27FC236}">
                <a16:creationId xmlns:a16="http://schemas.microsoft.com/office/drawing/2014/main" id="{408C776C-D1E1-26FF-EAAC-402D5F5E4590}"/>
              </a:ext>
            </a:extLst>
          </p:cNvPr>
          <p:cNvPicPr>
            <a:picLocks noGrp="1" noChangeAspect="1" noChangeArrowheads="1"/>
          </p:cNvPicPr>
          <p:nvPr>
            <p:ph idx="1"/>
          </p:nvPr>
        </p:nvPicPr>
        <p:blipFill>
          <a:blip r:embed="rId2"/>
          <a:srcRect/>
          <a:stretch>
            <a:fillRect/>
          </a:stretch>
        </p:blipFill>
        <p:spPr bwMode="auto">
          <a:xfrm>
            <a:off x="1524001" y="1956619"/>
            <a:ext cx="10117770" cy="4096862"/>
          </a:xfrm>
          <a:prstGeom prst="rect">
            <a:avLst/>
          </a:prstGeom>
          <a:noFill/>
          <a:ln w="9525">
            <a:noFill/>
            <a:miter lim="800000"/>
            <a:headEnd/>
            <a:tailEnd/>
          </a:ln>
          <a:effectLst/>
        </p:spPr>
      </p:pic>
    </p:spTree>
    <p:extLst>
      <p:ext uri="{BB962C8B-B14F-4D97-AF65-F5344CB8AC3E}">
        <p14:creationId xmlns:p14="http://schemas.microsoft.com/office/powerpoint/2010/main" val="266314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21CB9-27BC-C97E-2BA9-45DA7B3FD182}"/>
              </a:ext>
            </a:extLst>
          </p:cNvPr>
          <p:cNvSpPr>
            <a:spLocks noGrp="1"/>
          </p:cNvSpPr>
          <p:nvPr>
            <p:ph type="title"/>
          </p:nvPr>
        </p:nvSpPr>
        <p:spPr/>
        <p:txBody>
          <a:bodyPr/>
          <a:lstStyle/>
          <a:p>
            <a:pPr algn="ctr"/>
            <a:r>
              <a:rPr lang="en-US" sz="3200" b="1" dirty="0">
                <a:solidFill>
                  <a:srgbClr val="C00000"/>
                </a:solidFill>
              </a:rPr>
              <a:t>Deep Learning Evolution</a:t>
            </a:r>
            <a:endParaRPr lang="en-IN" dirty="0"/>
          </a:p>
        </p:txBody>
      </p:sp>
      <p:sp>
        <p:nvSpPr>
          <p:cNvPr id="4" name="Slide Number Placeholder 3">
            <a:extLst>
              <a:ext uri="{FF2B5EF4-FFF2-40B4-BE49-F238E27FC236}">
                <a16:creationId xmlns:a16="http://schemas.microsoft.com/office/drawing/2014/main" id="{113AC47F-C7C2-0E3B-7652-280A4E6A66F8}"/>
              </a:ext>
            </a:extLst>
          </p:cNvPr>
          <p:cNvSpPr>
            <a:spLocks noGrp="1"/>
          </p:cNvSpPr>
          <p:nvPr>
            <p:ph type="sldNum" sz="quarter" idx="12"/>
          </p:nvPr>
        </p:nvSpPr>
        <p:spPr/>
        <p:txBody>
          <a:bodyPr/>
          <a:lstStyle/>
          <a:p>
            <a:fld id="{CBABCCC1-BF11-4F37-963E-1BCD5B23FD72}" type="slidenum">
              <a:rPr lang="en-IN" smtClean="0"/>
              <a:t>14</a:t>
            </a:fld>
            <a:endParaRPr lang="en-IN"/>
          </a:p>
        </p:txBody>
      </p:sp>
      <p:sp>
        <p:nvSpPr>
          <p:cNvPr id="5" name="Text Placeholder 11">
            <a:extLst>
              <a:ext uri="{FF2B5EF4-FFF2-40B4-BE49-F238E27FC236}">
                <a16:creationId xmlns:a16="http://schemas.microsoft.com/office/drawing/2014/main" id="{B10979A5-DFBD-2ADD-A5B5-67087A5F8110}"/>
              </a:ext>
            </a:extLst>
          </p:cNvPr>
          <p:cNvSpPr>
            <a:spLocks noGrp="1"/>
          </p:cNvSpPr>
          <p:nvPr>
            <p:ph idx="1"/>
          </p:nvPr>
        </p:nvSpPr>
        <p:spPr>
          <a:xfrm>
            <a:off x="1137146" y="1853754"/>
            <a:ext cx="10923639" cy="4199727"/>
          </a:xfrm>
        </p:spPr>
        <p:txBody>
          <a:bodyPr>
            <a:noAutofit/>
          </a:bodyPr>
          <a:lstStyle/>
          <a:p>
            <a:r>
              <a:rPr lang="en-US" sz="1800" b="1" dirty="0">
                <a:solidFill>
                  <a:schemeClr val="tx1"/>
                </a:solidFill>
              </a:rPr>
              <a:t>1943: </a:t>
            </a:r>
            <a:r>
              <a:rPr lang="en-US" sz="1800" dirty="0">
                <a:solidFill>
                  <a:schemeClr val="tx1"/>
                </a:solidFill>
              </a:rPr>
              <a:t>An artificial neuron was proposed as a computational model of the “nerve net” in the brain by Warren McCulloch, Walter Pitts</a:t>
            </a:r>
          </a:p>
          <a:p>
            <a:r>
              <a:rPr lang="en-US" sz="1800" b="1" dirty="0">
                <a:solidFill>
                  <a:schemeClr val="tx1"/>
                </a:solidFill>
              </a:rPr>
              <a:t>Late 1950s: </a:t>
            </a:r>
            <a:r>
              <a:rPr lang="en-US" sz="1800" dirty="0">
                <a:solidFill>
                  <a:schemeClr val="tx1"/>
                </a:solidFill>
              </a:rPr>
              <a:t>A neural network application by reducing noise in phone lines was developed by Bernard </a:t>
            </a:r>
            <a:r>
              <a:rPr lang="en-US" sz="1800" dirty="0" err="1">
                <a:solidFill>
                  <a:schemeClr val="tx1"/>
                </a:solidFill>
              </a:rPr>
              <a:t>Widrow</a:t>
            </a:r>
            <a:r>
              <a:rPr lang="en-US" sz="1800" dirty="0">
                <a:solidFill>
                  <a:schemeClr val="tx1"/>
                </a:solidFill>
              </a:rPr>
              <a:t>, Ted Hoff</a:t>
            </a:r>
          </a:p>
          <a:p>
            <a:r>
              <a:rPr lang="en-US" sz="1800" b="1" dirty="0">
                <a:solidFill>
                  <a:schemeClr val="tx1"/>
                </a:solidFill>
              </a:rPr>
              <a:t>Late 1950s: </a:t>
            </a:r>
            <a:r>
              <a:rPr lang="en-US" sz="1800" dirty="0">
                <a:solidFill>
                  <a:schemeClr val="tx1"/>
                </a:solidFill>
              </a:rPr>
              <a:t>The </a:t>
            </a:r>
            <a:r>
              <a:rPr lang="en-US" sz="1800" dirty="0" err="1">
                <a:solidFill>
                  <a:schemeClr val="tx1"/>
                </a:solidFill>
              </a:rPr>
              <a:t>Perceptron</a:t>
            </a:r>
            <a:r>
              <a:rPr lang="en-US" sz="1800" dirty="0">
                <a:solidFill>
                  <a:schemeClr val="tx1"/>
                </a:solidFill>
              </a:rPr>
              <a:t> was introduced. It mimicked the neural structure of the brain and showed an ability to learn by Frank Rosenblatt</a:t>
            </a:r>
          </a:p>
          <a:p>
            <a:r>
              <a:rPr lang="en-US" sz="1800" b="1" dirty="0">
                <a:solidFill>
                  <a:schemeClr val="tx1"/>
                </a:solidFill>
              </a:rPr>
              <a:t>1969: </a:t>
            </a:r>
            <a:r>
              <a:rPr lang="en-US" sz="1800" dirty="0">
                <a:solidFill>
                  <a:schemeClr val="tx1"/>
                </a:solidFill>
              </a:rPr>
              <a:t>Proved mathematically that the </a:t>
            </a:r>
            <a:r>
              <a:rPr lang="en-US" sz="1800" dirty="0" err="1">
                <a:solidFill>
                  <a:schemeClr val="tx1"/>
                </a:solidFill>
              </a:rPr>
              <a:t>Perceptron</a:t>
            </a:r>
            <a:r>
              <a:rPr lang="en-US" sz="1800" dirty="0">
                <a:solidFill>
                  <a:schemeClr val="tx1"/>
                </a:solidFill>
              </a:rPr>
              <a:t> could only perform very basic tasks. It was published in their book, “</a:t>
            </a:r>
            <a:r>
              <a:rPr lang="en-US" sz="1800" dirty="0" err="1">
                <a:solidFill>
                  <a:schemeClr val="tx1"/>
                </a:solidFill>
              </a:rPr>
              <a:t>Perceptrons</a:t>
            </a:r>
            <a:r>
              <a:rPr lang="en-US" sz="1800" dirty="0">
                <a:solidFill>
                  <a:schemeClr val="tx1"/>
                </a:solidFill>
              </a:rPr>
              <a:t>”. They also discussed the challenges in relation to training multi-layer neural networks. by Marvin </a:t>
            </a:r>
            <a:r>
              <a:rPr lang="en-US" sz="1800" dirty="0" err="1">
                <a:solidFill>
                  <a:schemeClr val="tx1"/>
                </a:solidFill>
              </a:rPr>
              <a:t>Minsky</a:t>
            </a:r>
            <a:r>
              <a:rPr lang="en-US" sz="1800" dirty="0">
                <a:solidFill>
                  <a:schemeClr val="tx1"/>
                </a:solidFill>
              </a:rPr>
              <a:t>, Seymour </a:t>
            </a:r>
            <a:r>
              <a:rPr lang="en-US" sz="1800" dirty="0" err="1">
                <a:solidFill>
                  <a:schemeClr val="tx1"/>
                </a:solidFill>
              </a:rPr>
              <a:t>Papert</a:t>
            </a:r>
            <a:endParaRPr lang="en-US" sz="1800" dirty="0">
              <a:solidFill>
                <a:schemeClr val="tx1"/>
              </a:solidFill>
            </a:endParaRPr>
          </a:p>
          <a:p>
            <a:r>
              <a:rPr lang="en-US" sz="1800" b="1" dirty="0">
                <a:solidFill>
                  <a:schemeClr val="tx1"/>
                </a:solidFill>
              </a:rPr>
              <a:t>1986: </a:t>
            </a:r>
            <a:r>
              <a:rPr lang="en-US" sz="1800" dirty="0">
                <a:solidFill>
                  <a:schemeClr val="tx1"/>
                </a:solidFill>
              </a:rPr>
              <a:t>Solved the training challenges of multi-layer neural network using back propagation training algorithm by David E. </a:t>
            </a:r>
            <a:r>
              <a:rPr lang="en-US" sz="1800" dirty="0" err="1">
                <a:solidFill>
                  <a:schemeClr val="tx1"/>
                </a:solidFill>
              </a:rPr>
              <a:t>Rumelhart</a:t>
            </a:r>
            <a:r>
              <a:rPr lang="en-US" sz="1800" dirty="0">
                <a:solidFill>
                  <a:schemeClr val="tx1"/>
                </a:solidFill>
              </a:rPr>
              <a:t>, Geoffrey E. Hinton, and Ronald J. Williams.</a:t>
            </a:r>
          </a:p>
          <a:p>
            <a:endParaRPr lang="en-US" sz="1600" dirty="0">
              <a:solidFill>
                <a:schemeClr val="tx1"/>
              </a:solidFill>
            </a:endParaRPr>
          </a:p>
        </p:txBody>
      </p:sp>
    </p:spTree>
    <p:extLst>
      <p:ext uri="{BB962C8B-B14F-4D97-AF65-F5344CB8AC3E}">
        <p14:creationId xmlns:p14="http://schemas.microsoft.com/office/powerpoint/2010/main" val="3840429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EDE1F-BB17-5DF7-37CF-56D66938222F}"/>
              </a:ext>
            </a:extLst>
          </p:cNvPr>
          <p:cNvSpPr>
            <a:spLocks noGrp="1"/>
          </p:cNvSpPr>
          <p:nvPr>
            <p:ph type="title"/>
          </p:nvPr>
        </p:nvSpPr>
        <p:spPr/>
        <p:txBody>
          <a:bodyPr/>
          <a:lstStyle/>
          <a:p>
            <a:pPr algn="ctr"/>
            <a:r>
              <a:rPr lang="en-US" sz="3200" b="1" dirty="0">
                <a:solidFill>
                  <a:srgbClr val="C00000"/>
                </a:solidFill>
              </a:rPr>
              <a:t>Deep Learning Evolution (Cont..)</a:t>
            </a:r>
            <a:endParaRPr lang="en-IN" dirty="0"/>
          </a:p>
        </p:txBody>
      </p:sp>
      <p:sp>
        <p:nvSpPr>
          <p:cNvPr id="3" name="Content Placeholder 2">
            <a:extLst>
              <a:ext uri="{FF2B5EF4-FFF2-40B4-BE49-F238E27FC236}">
                <a16:creationId xmlns:a16="http://schemas.microsoft.com/office/drawing/2014/main" id="{FDE325AC-33B9-F4B7-2830-F8FD60234CAE}"/>
              </a:ext>
            </a:extLst>
          </p:cNvPr>
          <p:cNvSpPr>
            <a:spLocks noGrp="1"/>
          </p:cNvSpPr>
          <p:nvPr>
            <p:ph idx="1"/>
          </p:nvPr>
        </p:nvSpPr>
        <p:spPr>
          <a:xfrm>
            <a:off x="1219201" y="2015732"/>
            <a:ext cx="10599173" cy="4414565"/>
          </a:xfrm>
        </p:spPr>
        <p:txBody>
          <a:bodyPr>
            <a:noAutofit/>
          </a:bodyPr>
          <a:lstStyle/>
          <a:p>
            <a:r>
              <a:rPr lang="en-US" sz="1800" b="1" dirty="0"/>
              <a:t>1998: </a:t>
            </a:r>
            <a:r>
              <a:rPr lang="en-US" sz="1800" dirty="0"/>
              <a:t>Made the Use of neural networks on image recognition tasks. Defined the concept of convolutional neural networks (CNN), in his paper, which mimic the human visual cortex by Yann LeCun.</a:t>
            </a:r>
          </a:p>
          <a:p>
            <a:r>
              <a:rPr lang="en-US" sz="1800" b="1" dirty="0">
                <a:solidFill>
                  <a:schemeClr val="tx1"/>
                </a:solidFill>
              </a:rPr>
              <a:t>1998: </a:t>
            </a:r>
            <a:r>
              <a:rPr lang="en-US" sz="1800" dirty="0">
                <a:solidFill>
                  <a:schemeClr val="tx1"/>
                </a:solidFill>
              </a:rPr>
              <a:t>Popularized the “Hopfield” network which was the first recurrent neural network (RNN) by John Hopfield</a:t>
            </a:r>
          </a:p>
          <a:p>
            <a:r>
              <a:rPr lang="en-US" sz="1800" b="1" dirty="0">
                <a:solidFill>
                  <a:schemeClr val="tx1"/>
                </a:solidFill>
              </a:rPr>
              <a:t>1997 – 1998: </a:t>
            </a:r>
            <a:r>
              <a:rPr lang="en-US" sz="1800" dirty="0">
                <a:solidFill>
                  <a:schemeClr val="tx1"/>
                </a:solidFill>
              </a:rPr>
              <a:t>Introduced long short-term memory (LSTM), greatly improving the efficiency and the practicality of recurrent neural networks (RNN) by Jurgen </a:t>
            </a:r>
            <a:r>
              <a:rPr lang="en-US" sz="1800" dirty="0" err="1">
                <a:solidFill>
                  <a:schemeClr val="tx1"/>
                </a:solidFill>
              </a:rPr>
              <a:t>Schmidhuber</a:t>
            </a:r>
            <a:r>
              <a:rPr lang="en-US" sz="1800" dirty="0">
                <a:solidFill>
                  <a:schemeClr val="tx1"/>
                </a:solidFill>
              </a:rPr>
              <a:t> and Sepp </a:t>
            </a:r>
            <a:r>
              <a:rPr lang="en-US" sz="1800" dirty="0" err="1">
                <a:solidFill>
                  <a:schemeClr val="tx1"/>
                </a:solidFill>
              </a:rPr>
              <a:t>Hochreiter</a:t>
            </a:r>
            <a:endParaRPr lang="en-US" sz="1800" dirty="0">
              <a:solidFill>
                <a:schemeClr val="tx1"/>
              </a:solidFill>
            </a:endParaRPr>
          </a:p>
          <a:p>
            <a:r>
              <a:rPr lang="en-US" sz="1800" b="1" dirty="0">
                <a:solidFill>
                  <a:schemeClr val="tx1"/>
                </a:solidFill>
              </a:rPr>
              <a:t>2012: </a:t>
            </a:r>
            <a:r>
              <a:rPr lang="en-US" sz="1800" dirty="0">
                <a:solidFill>
                  <a:schemeClr val="tx1"/>
                </a:solidFill>
              </a:rPr>
              <a:t>Highlighted the power of deep learning by showing significant results in the well-known ImageNet competition by Geoffrey Hinton and two of his students</a:t>
            </a:r>
          </a:p>
          <a:p>
            <a:r>
              <a:rPr lang="en-US" sz="1800" b="1" dirty="0">
                <a:solidFill>
                  <a:schemeClr val="tx1"/>
                </a:solidFill>
              </a:rPr>
              <a:t>2012 – 2103: </a:t>
            </a:r>
            <a:r>
              <a:rPr lang="en-US" sz="1800" dirty="0">
                <a:solidFill>
                  <a:schemeClr val="tx1"/>
                </a:solidFill>
              </a:rPr>
              <a:t>Breakthrough work on large scale image recognition at Google Brain by Jeffrey Dean, Andrew Ng</a:t>
            </a:r>
          </a:p>
          <a:p>
            <a:pPr algn="ctr"/>
            <a:r>
              <a:rPr lang="en-US" sz="1800" b="1" dirty="0">
                <a:solidFill>
                  <a:srgbClr val="FF0000"/>
                </a:solidFill>
              </a:rPr>
              <a:t>Refer: https://github.com/ChristosChristofidis/awesome-deep-learning </a:t>
            </a:r>
          </a:p>
          <a:p>
            <a:endParaRPr lang="en-IN" sz="1800" dirty="0"/>
          </a:p>
        </p:txBody>
      </p:sp>
      <p:sp>
        <p:nvSpPr>
          <p:cNvPr id="4" name="Slide Number Placeholder 3">
            <a:extLst>
              <a:ext uri="{FF2B5EF4-FFF2-40B4-BE49-F238E27FC236}">
                <a16:creationId xmlns:a16="http://schemas.microsoft.com/office/drawing/2014/main" id="{57AAF0D4-AD17-449B-FC40-EB7F10ECCC75}"/>
              </a:ext>
            </a:extLst>
          </p:cNvPr>
          <p:cNvSpPr>
            <a:spLocks noGrp="1"/>
          </p:cNvSpPr>
          <p:nvPr>
            <p:ph type="sldNum" sz="quarter" idx="12"/>
          </p:nvPr>
        </p:nvSpPr>
        <p:spPr/>
        <p:txBody>
          <a:bodyPr/>
          <a:lstStyle/>
          <a:p>
            <a:fld id="{CBABCCC1-BF11-4F37-963E-1BCD5B23FD72}" type="slidenum">
              <a:rPr lang="en-IN" smtClean="0"/>
              <a:t>15</a:t>
            </a:fld>
            <a:endParaRPr lang="en-IN"/>
          </a:p>
        </p:txBody>
      </p:sp>
    </p:spTree>
    <p:extLst>
      <p:ext uri="{BB962C8B-B14F-4D97-AF65-F5344CB8AC3E}">
        <p14:creationId xmlns:p14="http://schemas.microsoft.com/office/powerpoint/2010/main" val="1833534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1A0B0-7EA5-9F8B-B298-2A7A7C8C949E}"/>
              </a:ext>
            </a:extLst>
          </p:cNvPr>
          <p:cNvSpPr>
            <a:spLocks noGrp="1"/>
          </p:cNvSpPr>
          <p:nvPr>
            <p:ph type="title"/>
          </p:nvPr>
        </p:nvSpPr>
        <p:spPr/>
        <p:txBody>
          <a:bodyPr/>
          <a:lstStyle/>
          <a:p>
            <a:r>
              <a:rPr lang="en-US" b="1" dirty="0">
                <a:solidFill>
                  <a:srgbClr val="C00000"/>
                </a:solidFill>
              </a:rPr>
              <a:t>Deep Learning Evolution (Cont..)</a:t>
            </a:r>
            <a:endParaRPr lang="en-IN" dirty="0"/>
          </a:p>
        </p:txBody>
      </p:sp>
      <p:sp>
        <p:nvSpPr>
          <p:cNvPr id="3" name="Content Placeholder 2">
            <a:extLst>
              <a:ext uri="{FF2B5EF4-FFF2-40B4-BE49-F238E27FC236}">
                <a16:creationId xmlns:a16="http://schemas.microsoft.com/office/drawing/2014/main" id="{3B39A041-D6E4-738C-47D4-6ED23D418DB7}"/>
              </a:ext>
            </a:extLst>
          </p:cNvPr>
          <p:cNvSpPr>
            <a:spLocks noGrp="1"/>
          </p:cNvSpPr>
          <p:nvPr>
            <p:ph idx="1"/>
          </p:nvPr>
        </p:nvSpPr>
        <p:spPr/>
        <p:txBody>
          <a:bodyPr/>
          <a:lstStyle/>
          <a:p>
            <a:r>
              <a:rPr lang="en-US" b="1" dirty="0"/>
              <a:t>2014: </a:t>
            </a:r>
            <a:r>
              <a:rPr lang="en-US" dirty="0"/>
              <a:t>Published his paper on generative adversarial networks (GAN)by Ian Goodfellow</a:t>
            </a:r>
          </a:p>
          <a:p>
            <a:r>
              <a:rPr lang="en-US" b="1" dirty="0"/>
              <a:t>2014: </a:t>
            </a:r>
            <a:r>
              <a:rPr lang="en-US" dirty="0"/>
              <a:t>Reinforcement learning: An Introduction by Richard S. Sutton, Andrew G. Barto.</a:t>
            </a:r>
          </a:p>
          <a:p>
            <a:r>
              <a:rPr lang="en-US" b="1" dirty="0"/>
              <a:t>2017:</a:t>
            </a:r>
            <a:r>
              <a:rPr lang="en-US" dirty="0"/>
              <a:t> </a:t>
            </a:r>
            <a:r>
              <a:rPr lang="en-US" i="1" dirty="0"/>
              <a:t>Transformers:</a:t>
            </a:r>
            <a:r>
              <a:rPr lang="en-US" dirty="0"/>
              <a:t> Vaswani et al. proposed the Transformer architecture — the basis for large language models (like GPT).</a:t>
            </a:r>
          </a:p>
          <a:p>
            <a:r>
              <a:rPr lang="en-IN" dirty="0"/>
              <a:t>Modern Era (</a:t>
            </a:r>
            <a:r>
              <a:rPr lang="en-IN" b="1" dirty="0"/>
              <a:t>2020s–Present</a:t>
            </a:r>
            <a:r>
              <a:rPr lang="en-IN" dirty="0"/>
              <a:t>): Explosion of massive models (GPT-3, GPT-4, </a:t>
            </a:r>
            <a:r>
              <a:rPr lang="en-IN" dirty="0" err="1"/>
              <a:t>PaLM</a:t>
            </a:r>
            <a:r>
              <a:rPr lang="en-IN" dirty="0"/>
              <a:t>, etc.) using transformers. Breakthroughs in multimodal models (text, image, audio, video).</a:t>
            </a:r>
          </a:p>
        </p:txBody>
      </p:sp>
      <p:sp>
        <p:nvSpPr>
          <p:cNvPr id="4" name="Slide Number Placeholder 3">
            <a:extLst>
              <a:ext uri="{FF2B5EF4-FFF2-40B4-BE49-F238E27FC236}">
                <a16:creationId xmlns:a16="http://schemas.microsoft.com/office/drawing/2014/main" id="{CC8D5355-CF6A-D1FA-FD53-2C01CBF378D2}"/>
              </a:ext>
            </a:extLst>
          </p:cNvPr>
          <p:cNvSpPr>
            <a:spLocks noGrp="1"/>
          </p:cNvSpPr>
          <p:nvPr>
            <p:ph type="sldNum" sz="quarter" idx="12"/>
          </p:nvPr>
        </p:nvSpPr>
        <p:spPr/>
        <p:txBody>
          <a:bodyPr/>
          <a:lstStyle/>
          <a:p>
            <a:fld id="{CBABCCC1-BF11-4F37-963E-1BCD5B23FD72}" type="slidenum">
              <a:rPr lang="en-IN" smtClean="0"/>
              <a:t>16</a:t>
            </a:fld>
            <a:endParaRPr lang="en-IN"/>
          </a:p>
        </p:txBody>
      </p:sp>
    </p:spTree>
    <p:extLst>
      <p:ext uri="{BB962C8B-B14F-4D97-AF65-F5344CB8AC3E}">
        <p14:creationId xmlns:p14="http://schemas.microsoft.com/office/powerpoint/2010/main" val="1501009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8DFD8-073A-FAB2-983F-C99F03321A1F}"/>
              </a:ext>
            </a:extLst>
          </p:cNvPr>
          <p:cNvSpPr>
            <a:spLocks noGrp="1"/>
          </p:cNvSpPr>
          <p:nvPr>
            <p:ph type="title"/>
          </p:nvPr>
        </p:nvSpPr>
        <p:spPr>
          <a:xfrm>
            <a:off x="206478" y="804519"/>
            <a:ext cx="11720052" cy="1049235"/>
          </a:xfrm>
        </p:spPr>
        <p:txBody>
          <a:bodyPr>
            <a:normAutofit fontScale="90000"/>
          </a:bodyPr>
          <a:lstStyle/>
          <a:p>
            <a:pPr algn="ctr"/>
            <a:r>
              <a:rPr lang="en-US" dirty="0">
                <a:solidFill>
                  <a:srgbClr val="C00000"/>
                </a:solidFill>
              </a:rPr>
              <a:t>Key Success Stories in Deep Learning </a:t>
            </a:r>
            <a:br>
              <a:rPr lang="en-US" dirty="0">
                <a:solidFill>
                  <a:srgbClr val="C00000"/>
                </a:solidFill>
              </a:rPr>
            </a:br>
            <a:r>
              <a:rPr lang="en-US" b="1" dirty="0">
                <a:solidFill>
                  <a:srgbClr val="C00000"/>
                </a:solidFill>
              </a:rPr>
              <a:t>Image Recognition: </a:t>
            </a:r>
            <a:r>
              <a:rPr lang="en-US" b="1" dirty="0" err="1">
                <a:solidFill>
                  <a:srgbClr val="C00000"/>
                </a:solidFill>
              </a:rPr>
              <a:t>AlexNet</a:t>
            </a:r>
            <a:r>
              <a:rPr lang="en-US" b="1" dirty="0">
                <a:solidFill>
                  <a:srgbClr val="C00000"/>
                </a:solidFill>
              </a:rPr>
              <a:t> 2012</a:t>
            </a:r>
            <a:r>
              <a:rPr lang="en-US" dirty="0">
                <a:solidFill>
                  <a:srgbClr val="C00000"/>
                </a:solidFill>
              </a:rPr>
              <a:t>:</a:t>
            </a:r>
            <a:br>
              <a:rPr lang="en-US" dirty="0"/>
            </a:br>
            <a:endParaRPr lang="en-IN" dirty="0">
              <a:solidFill>
                <a:srgbClr val="C00000"/>
              </a:solidFill>
            </a:endParaRPr>
          </a:p>
        </p:txBody>
      </p:sp>
      <p:sp>
        <p:nvSpPr>
          <p:cNvPr id="3" name="Content Placeholder 2">
            <a:extLst>
              <a:ext uri="{FF2B5EF4-FFF2-40B4-BE49-F238E27FC236}">
                <a16:creationId xmlns:a16="http://schemas.microsoft.com/office/drawing/2014/main" id="{12AC92B2-96FA-3EA2-59C8-67D20DA20523}"/>
              </a:ext>
            </a:extLst>
          </p:cNvPr>
          <p:cNvSpPr>
            <a:spLocks noGrp="1"/>
          </p:cNvSpPr>
          <p:nvPr>
            <p:ph idx="1"/>
          </p:nvPr>
        </p:nvSpPr>
        <p:spPr>
          <a:xfrm>
            <a:off x="894081" y="2015732"/>
            <a:ext cx="6360160" cy="4129429"/>
          </a:xfrm>
        </p:spPr>
        <p:txBody>
          <a:bodyPr>
            <a:noAutofit/>
          </a:bodyPr>
          <a:lstStyle/>
          <a:p>
            <a:pPr>
              <a:buFont typeface="Arial" panose="020B0604020202020204" pitchFamily="34" charset="0"/>
              <a:buChar char="•"/>
            </a:pPr>
            <a:r>
              <a:rPr lang="en-US" sz="1800" dirty="0"/>
              <a:t>Developed by </a:t>
            </a:r>
            <a:r>
              <a:rPr lang="en-US" sz="1800" b="1" dirty="0"/>
              <a:t>Alex </a:t>
            </a:r>
            <a:r>
              <a:rPr lang="en-US" sz="1800" b="1" dirty="0" err="1"/>
              <a:t>Krizhevsky</a:t>
            </a:r>
            <a:r>
              <a:rPr lang="en-US" sz="1800" dirty="0"/>
              <a:t>, </a:t>
            </a:r>
            <a:r>
              <a:rPr lang="en-US" sz="1800" b="1" dirty="0"/>
              <a:t>Ilya </a:t>
            </a:r>
            <a:r>
              <a:rPr lang="en-US" sz="1800" b="1" dirty="0" err="1"/>
              <a:t>Sutskever</a:t>
            </a:r>
            <a:r>
              <a:rPr lang="en-US" sz="1800" dirty="0"/>
              <a:t>, and </a:t>
            </a:r>
            <a:r>
              <a:rPr lang="en-US" sz="1800" b="1" dirty="0"/>
              <a:t>Geoffrey Hinton</a:t>
            </a:r>
            <a:r>
              <a:rPr lang="en-US" sz="1800" dirty="0"/>
              <a:t>.</a:t>
            </a:r>
          </a:p>
          <a:p>
            <a:r>
              <a:rPr lang="en-US" sz="1800" b="1" dirty="0"/>
              <a:t>Achievement</a:t>
            </a:r>
            <a:r>
              <a:rPr lang="en-US" sz="1800" dirty="0"/>
              <a:t>:</a:t>
            </a:r>
          </a:p>
          <a:p>
            <a:pPr>
              <a:buFont typeface="Arial" panose="020B0604020202020204" pitchFamily="34" charset="0"/>
              <a:buChar char="•"/>
            </a:pPr>
            <a:r>
              <a:rPr lang="en-US" sz="1800" dirty="0" err="1"/>
              <a:t>AlexNet</a:t>
            </a:r>
            <a:r>
              <a:rPr lang="en-US" sz="1800" dirty="0"/>
              <a:t> won the ImageNet Large Scale Visual Recognition Challenge (ILSVRC) by a significant margin, achieving a top-5 error rate of 15.3%, compared to the second-best entry at 26.2%.</a:t>
            </a:r>
          </a:p>
          <a:p>
            <a:r>
              <a:rPr lang="en-US" sz="1800" b="1" dirty="0"/>
              <a:t>Impact</a:t>
            </a:r>
            <a:r>
              <a:rPr lang="en-US" sz="1800" dirty="0"/>
              <a:t>:</a:t>
            </a:r>
          </a:p>
          <a:p>
            <a:pPr>
              <a:buFont typeface="Arial" panose="020B0604020202020204" pitchFamily="34" charset="0"/>
              <a:buChar char="•"/>
            </a:pPr>
            <a:r>
              <a:rPr lang="en-US" sz="1800" dirty="0"/>
              <a:t>The success of </a:t>
            </a:r>
            <a:r>
              <a:rPr lang="en-US" sz="1800" dirty="0" err="1"/>
              <a:t>AlexNet</a:t>
            </a:r>
            <a:r>
              <a:rPr lang="en-US" sz="1800" dirty="0"/>
              <a:t> demonstrated the potential of deep convolutional neural networks (CNNs) for image recognition tasks and sparked renewed interest in deep learning.</a:t>
            </a:r>
          </a:p>
          <a:p>
            <a:endParaRPr lang="en-IN" sz="1800" dirty="0"/>
          </a:p>
        </p:txBody>
      </p:sp>
      <p:sp>
        <p:nvSpPr>
          <p:cNvPr id="4" name="Slide Number Placeholder 3">
            <a:extLst>
              <a:ext uri="{FF2B5EF4-FFF2-40B4-BE49-F238E27FC236}">
                <a16:creationId xmlns:a16="http://schemas.microsoft.com/office/drawing/2014/main" id="{2C489C89-5890-7596-6241-74815B49483A}"/>
              </a:ext>
            </a:extLst>
          </p:cNvPr>
          <p:cNvSpPr>
            <a:spLocks noGrp="1"/>
          </p:cNvSpPr>
          <p:nvPr>
            <p:ph type="sldNum" sz="quarter" idx="12"/>
          </p:nvPr>
        </p:nvSpPr>
        <p:spPr/>
        <p:txBody>
          <a:bodyPr/>
          <a:lstStyle/>
          <a:p>
            <a:fld id="{CBABCCC1-BF11-4F37-963E-1BCD5B23FD72}" type="slidenum">
              <a:rPr lang="en-IN" smtClean="0"/>
              <a:t>17</a:t>
            </a:fld>
            <a:endParaRPr lang="en-IN"/>
          </a:p>
        </p:txBody>
      </p:sp>
      <p:pic>
        <p:nvPicPr>
          <p:cNvPr id="6" name="Picture 5">
            <a:extLst>
              <a:ext uri="{FF2B5EF4-FFF2-40B4-BE49-F238E27FC236}">
                <a16:creationId xmlns:a16="http://schemas.microsoft.com/office/drawing/2014/main" id="{C9332A12-DB4C-FB28-60A0-B68C0533B8CC}"/>
              </a:ext>
            </a:extLst>
          </p:cNvPr>
          <p:cNvPicPr>
            <a:picLocks noChangeAspect="1"/>
          </p:cNvPicPr>
          <p:nvPr/>
        </p:nvPicPr>
        <p:blipFill>
          <a:blip r:embed="rId2"/>
          <a:stretch>
            <a:fillRect/>
          </a:stretch>
        </p:blipFill>
        <p:spPr>
          <a:xfrm>
            <a:off x="7857171" y="2163413"/>
            <a:ext cx="3440748" cy="3834065"/>
          </a:xfrm>
          <a:prstGeom prst="rect">
            <a:avLst/>
          </a:prstGeom>
        </p:spPr>
      </p:pic>
    </p:spTree>
    <p:extLst>
      <p:ext uri="{BB962C8B-B14F-4D97-AF65-F5344CB8AC3E}">
        <p14:creationId xmlns:p14="http://schemas.microsoft.com/office/powerpoint/2010/main" val="2672523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14797-EFE7-96B1-D64A-30D724D69F30}"/>
              </a:ext>
            </a:extLst>
          </p:cNvPr>
          <p:cNvSpPr>
            <a:spLocks noGrp="1"/>
          </p:cNvSpPr>
          <p:nvPr>
            <p:ph type="title"/>
          </p:nvPr>
        </p:nvSpPr>
        <p:spPr>
          <a:xfrm>
            <a:off x="855406" y="804519"/>
            <a:ext cx="11169445" cy="1049235"/>
          </a:xfrm>
        </p:spPr>
        <p:txBody>
          <a:bodyPr>
            <a:normAutofit fontScale="90000"/>
          </a:bodyPr>
          <a:lstStyle/>
          <a:p>
            <a:pPr algn="ctr"/>
            <a:r>
              <a:rPr lang="en-US" b="1" dirty="0">
                <a:solidFill>
                  <a:srgbClr val="C00000"/>
                </a:solidFill>
              </a:rPr>
              <a:t>Speech Recognition: Google DeepMind’s </a:t>
            </a:r>
            <a:r>
              <a:rPr lang="en-US" b="1" dirty="0" err="1">
                <a:solidFill>
                  <a:srgbClr val="C00000"/>
                </a:solidFill>
              </a:rPr>
              <a:t>WaveNet</a:t>
            </a:r>
            <a:br>
              <a:rPr lang="en-US" b="1" dirty="0">
                <a:solidFill>
                  <a:srgbClr val="C00000"/>
                </a:solidFill>
              </a:rPr>
            </a:br>
            <a:r>
              <a:rPr lang="en-US" b="1" dirty="0">
                <a:solidFill>
                  <a:srgbClr val="C00000"/>
                </a:solidFill>
              </a:rPr>
              <a:t>2016</a:t>
            </a:r>
            <a:r>
              <a:rPr lang="en-US" dirty="0">
                <a:solidFill>
                  <a:srgbClr val="C00000"/>
                </a:solidFill>
              </a:rPr>
              <a:t>:</a:t>
            </a:r>
            <a:br>
              <a:rPr lang="en-US" dirty="0">
                <a:solidFill>
                  <a:srgbClr val="C00000"/>
                </a:solidFill>
              </a:rPr>
            </a:br>
            <a:endParaRPr lang="en-IN" dirty="0">
              <a:solidFill>
                <a:srgbClr val="C00000"/>
              </a:solidFill>
            </a:endParaRPr>
          </a:p>
        </p:txBody>
      </p:sp>
      <p:sp>
        <p:nvSpPr>
          <p:cNvPr id="3" name="Content Placeholder 2">
            <a:extLst>
              <a:ext uri="{FF2B5EF4-FFF2-40B4-BE49-F238E27FC236}">
                <a16:creationId xmlns:a16="http://schemas.microsoft.com/office/drawing/2014/main" id="{CA4A9BF5-A1CB-B6BE-3BA2-B66A9C87598D}"/>
              </a:ext>
            </a:extLst>
          </p:cNvPr>
          <p:cNvSpPr>
            <a:spLocks noGrp="1"/>
          </p:cNvSpPr>
          <p:nvPr>
            <p:ph idx="1"/>
          </p:nvPr>
        </p:nvSpPr>
        <p:spPr>
          <a:xfrm>
            <a:off x="1107441" y="2015732"/>
            <a:ext cx="5171440" cy="4151388"/>
          </a:xfrm>
        </p:spPr>
        <p:txBody>
          <a:bodyPr>
            <a:normAutofit lnSpcReduction="10000"/>
          </a:bodyPr>
          <a:lstStyle/>
          <a:p>
            <a:pPr>
              <a:buFont typeface="Arial" panose="020B0604020202020204" pitchFamily="34" charset="0"/>
              <a:buChar char="•"/>
            </a:pPr>
            <a:r>
              <a:rPr lang="en-US" dirty="0"/>
              <a:t>Developed by </a:t>
            </a:r>
            <a:r>
              <a:rPr lang="en-US" b="1" dirty="0"/>
              <a:t>Google DeepMind</a:t>
            </a:r>
            <a:r>
              <a:rPr lang="en-US" dirty="0"/>
              <a:t>.</a:t>
            </a:r>
          </a:p>
          <a:p>
            <a:r>
              <a:rPr lang="en-US" b="1" dirty="0"/>
              <a:t>Achievement</a:t>
            </a:r>
            <a:r>
              <a:rPr lang="en-US" dirty="0"/>
              <a:t>:</a:t>
            </a:r>
          </a:p>
          <a:p>
            <a:pPr>
              <a:buFont typeface="Arial" panose="020B0604020202020204" pitchFamily="34" charset="0"/>
              <a:buChar char="•"/>
            </a:pPr>
            <a:r>
              <a:rPr lang="en-US" dirty="0" err="1"/>
              <a:t>WaveNet</a:t>
            </a:r>
            <a:r>
              <a:rPr lang="en-US" dirty="0"/>
              <a:t> produced more natural-sounding speech synthesis compared to previous methods, using a deep generative model.</a:t>
            </a:r>
          </a:p>
          <a:p>
            <a:r>
              <a:rPr lang="en-US" b="1" dirty="0"/>
              <a:t>Impact</a:t>
            </a:r>
            <a:r>
              <a:rPr lang="en-US" dirty="0"/>
              <a:t>:</a:t>
            </a:r>
          </a:p>
          <a:p>
            <a:pPr>
              <a:buFont typeface="Arial" panose="020B0604020202020204" pitchFamily="34" charset="0"/>
              <a:buChar char="•"/>
            </a:pPr>
            <a:r>
              <a:rPr lang="en-US" dirty="0" err="1"/>
              <a:t>WaveNet</a:t>
            </a:r>
            <a:r>
              <a:rPr lang="en-US" dirty="0"/>
              <a:t> advanced the field of speech synthesis and voice assistants, leading to more realistic and human-like speech outputs in various applications.</a:t>
            </a:r>
          </a:p>
          <a:p>
            <a:endParaRPr lang="en-IN" dirty="0"/>
          </a:p>
        </p:txBody>
      </p:sp>
      <p:sp>
        <p:nvSpPr>
          <p:cNvPr id="4" name="Slide Number Placeholder 3">
            <a:extLst>
              <a:ext uri="{FF2B5EF4-FFF2-40B4-BE49-F238E27FC236}">
                <a16:creationId xmlns:a16="http://schemas.microsoft.com/office/drawing/2014/main" id="{4B218998-89A1-8245-512B-8563251B2164}"/>
              </a:ext>
            </a:extLst>
          </p:cNvPr>
          <p:cNvSpPr>
            <a:spLocks noGrp="1"/>
          </p:cNvSpPr>
          <p:nvPr>
            <p:ph type="sldNum" sz="quarter" idx="12"/>
          </p:nvPr>
        </p:nvSpPr>
        <p:spPr/>
        <p:txBody>
          <a:bodyPr/>
          <a:lstStyle/>
          <a:p>
            <a:fld id="{CBABCCC1-BF11-4F37-963E-1BCD5B23FD72}" type="slidenum">
              <a:rPr lang="en-IN" smtClean="0"/>
              <a:t>18</a:t>
            </a:fld>
            <a:endParaRPr lang="en-IN"/>
          </a:p>
        </p:txBody>
      </p:sp>
      <p:pic>
        <p:nvPicPr>
          <p:cNvPr id="6" name="Picture 5">
            <a:extLst>
              <a:ext uri="{FF2B5EF4-FFF2-40B4-BE49-F238E27FC236}">
                <a16:creationId xmlns:a16="http://schemas.microsoft.com/office/drawing/2014/main" id="{D4E41912-A00B-2BB1-45F8-040EAADF99FA}"/>
              </a:ext>
            </a:extLst>
          </p:cNvPr>
          <p:cNvPicPr>
            <a:picLocks noChangeAspect="1"/>
          </p:cNvPicPr>
          <p:nvPr/>
        </p:nvPicPr>
        <p:blipFill>
          <a:blip r:embed="rId2"/>
          <a:stretch>
            <a:fillRect/>
          </a:stretch>
        </p:blipFill>
        <p:spPr>
          <a:xfrm>
            <a:off x="6440128" y="2015732"/>
            <a:ext cx="5538514" cy="3392475"/>
          </a:xfrm>
          <a:prstGeom prst="rect">
            <a:avLst/>
          </a:prstGeom>
        </p:spPr>
      </p:pic>
    </p:spTree>
    <p:extLst>
      <p:ext uri="{BB962C8B-B14F-4D97-AF65-F5344CB8AC3E}">
        <p14:creationId xmlns:p14="http://schemas.microsoft.com/office/powerpoint/2010/main" val="5441947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9A7D-67A7-5A25-7FA1-F66E723E5916}"/>
              </a:ext>
            </a:extLst>
          </p:cNvPr>
          <p:cNvSpPr>
            <a:spLocks noGrp="1"/>
          </p:cNvSpPr>
          <p:nvPr>
            <p:ph type="title"/>
          </p:nvPr>
        </p:nvSpPr>
        <p:spPr>
          <a:xfrm>
            <a:off x="1451579" y="804519"/>
            <a:ext cx="10278305" cy="1049235"/>
          </a:xfrm>
        </p:spPr>
        <p:txBody>
          <a:bodyPr>
            <a:normAutofit fontScale="90000"/>
          </a:bodyPr>
          <a:lstStyle/>
          <a:p>
            <a:pPr algn="ctr"/>
            <a:r>
              <a:rPr lang="en-US" b="1" dirty="0">
                <a:solidFill>
                  <a:srgbClr val="C00000"/>
                </a:solidFill>
              </a:rPr>
              <a:t>Natural Language Processing: OpenAI’s GPT-3</a:t>
            </a:r>
            <a:br>
              <a:rPr lang="en-US" b="1" dirty="0">
                <a:solidFill>
                  <a:srgbClr val="C00000"/>
                </a:solidFill>
              </a:rPr>
            </a:br>
            <a:r>
              <a:rPr lang="en-US" b="1" dirty="0">
                <a:solidFill>
                  <a:srgbClr val="C00000"/>
                </a:solidFill>
              </a:rPr>
              <a:t>2020</a:t>
            </a:r>
            <a:r>
              <a:rPr lang="en-US" dirty="0">
                <a:solidFill>
                  <a:srgbClr val="C00000"/>
                </a:solidFill>
              </a:rPr>
              <a:t>:</a:t>
            </a:r>
            <a:br>
              <a:rPr lang="en-US" dirty="0">
                <a:solidFill>
                  <a:srgbClr val="C00000"/>
                </a:solidFill>
              </a:rPr>
            </a:br>
            <a:endParaRPr lang="en-IN" dirty="0">
              <a:solidFill>
                <a:srgbClr val="C00000"/>
              </a:solidFill>
            </a:endParaRPr>
          </a:p>
        </p:txBody>
      </p:sp>
      <p:sp>
        <p:nvSpPr>
          <p:cNvPr id="3" name="Content Placeholder 2">
            <a:extLst>
              <a:ext uri="{FF2B5EF4-FFF2-40B4-BE49-F238E27FC236}">
                <a16:creationId xmlns:a16="http://schemas.microsoft.com/office/drawing/2014/main" id="{CDC657AA-4C65-6BFD-F607-46C12BFFAA98}"/>
              </a:ext>
            </a:extLst>
          </p:cNvPr>
          <p:cNvSpPr>
            <a:spLocks noGrp="1"/>
          </p:cNvSpPr>
          <p:nvPr>
            <p:ph idx="1"/>
          </p:nvPr>
        </p:nvSpPr>
        <p:spPr>
          <a:xfrm>
            <a:off x="1451579" y="2015732"/>
            <a:ext cx="5528341" cy="3450613"/>
          </a:xfrm>
        </p:spPr>
        <p:txBody>
          <a:bodyPr>
            <a:normAutofit fontScale="85000" lnSpcReduction="10000"/>
          </a:bodyPr>
          <a:lstStyle/>
          <a:p>
            <a:pPr>
              <a:buFont typeface="Arial" panose="020B0604020202020204" pitchFamily="34" charset="0"/>
              <a:buChar char="•"/>
            </a:pPr>
            <a:r>
              <a:rPr lang="en-US" dirty="0"/>
              <a:t>Developed by </a:t>
            </a:r>
            <a:r>
              <a:rPr lang="en-US" b="1" dirty="0"/>
              <a:t>OpenAI</a:t>
            </a:r>
            <a:r>
              <a:rPr lang="en-US" dirty="0"/>
              <a:t>.</a:t>
            </a:r>
          </a:p>
          <a:p>
            <a:r>
              <a:rPr lang="en-US" b="1" dirty="0"/>
              <a:t>Achievement</a:t>
            </a:r>
            <a:r>
              <a:rPr lang="en-US" dirty="0"/>
              <a:t>:</a:t>
            </a:r>
          </a:p>
          <a:p>
            <a:pPr>
              <a:buFont typeface="Arial" panose="020B0604020202020204" pitchFamily="34" charset="0"/>
              <a:buChar char="•"/>
            </a:pPr>
            <a:r>
              <a:rPr lang="en-US" dirty="0"/>
              <a:t>GPT-3 generated human-like text and performed a wide range of language tasks without task-specific training, using a transformer model with 175 billion parameters.</a:t>
            </a:r>
          </a:p>
          <a:p>
            <a:r>
              <a:rPr lang="en-US" b="1" dirty="0"/>
              <a:t>Impact</a:t>
            </a:r>
            <a:r>
              <a:rPr lang="en-US" dirty="0"/>
              <a:t>:</a:t>
            </a:r>
          </a:p>
          <a:p>
            <a:pPr>
              <a:buFont typeface="Arial" panose="020B0604020202020204" pitchFamily="34" charset="0"/>
              <a:buChar char="•"/>
            </a:pPr>
            <a:r>
              <a:rPr lang="en-US" dirty="0"/>
              <a:t>GPT-3 showcased the potential of large-scale transformer models in natural language processing (NLP) applications, including text generation, translation, and summarization.</a:t>
            </a:r>
          </a:p>
          <a:p>
            <a:endParaRPr lang="en-IN" dirty="0"/>
          </a:p>
        </p:txBody>
      </p:sp>
      <p:sp>
        <p:nvSpPr>
          <p:cNvPr id="4" name="Slide Number Placeholder 3">
            <a:extLst>
              <a:ext uri="{FF2B5EF4-FFF2-40B4-BE49-F238E27FC236}">
                <a16:creationId xmlns:a16="http://schemas.microsoft.com/office/drawing/2014/main" id="{4899DD01-94E9-A9C8-2ED6-E26A58819253}"/>
              </a:ext>
            </a:extLst>
          </p:cNvPr>
          <p:cNvSpPr>
            <a:spLocks noGrp="1"/>
          </p:cNvSpPr>
          <p:nvPr>
            <p:ph type="sldNum" sz="quarter" idx="12"/>
          </p:nvPr>
        </p:nvSpPr>
        <p:spPr/>
        <p:txBody>
          <a:bodyPr/>
          <a:lstStyle/>
          <a:p>
            <a:fld id="{CBABCCC1-BF11-4F37-963E-1BCD5B23FD72}" type="slidenum">
              <a:rPr lang="en-IN" smtClean="0"/>
              <a:t>19</a:t>
            </a:fld>
            <a:endParaRPr lang="en-IN"/>
          </a:p>
        </p:txBody>
      </p:sp>
      <p:pic>
        <p:nvPicPr>
          <p:cNvPr id="8" name="Picture 7">
            <a:extLst>
              <a:ext uri="{FF2B5EF4-FFF2-40B4-BE49-F238E27FC236}">
                <a16:creationId xmlns:a16="http://schemas.microsoft.com/office/drawing/2014/main" id="{9AEEF2B2-B409-1D03-90DE-DE190C497F90}"/>
              </a:ext>
            </a:extLst>
          </p:cNvPr>
          <p:cNvPicPr>
            <a:picLocks noChangeAspect="1"/>
          </p:cNvPicPr>
          <p:nvPr/>
        </p:nvPicPr>
        <p:blipFill>
          <a:blip r:embed="rId2"/>
          <a:stretch>
            <a:fillRect/>
          </a:stretch>
        </p:blipFill>
        <p:spPr>
          <a:xfrm>
            <a:off x="7183837" y="2214881"/>
            <a:ext cx="4077354" cy="2789366"/>
          </a:xfrm>
          <a:prstGeom prst="rect">
            <a:avLst/>
          </a:prstGeom>
        </p:spPr>
      </p:pic>
    </p:spTree>
    <p:extLst>
      <p:ext uri="{BB962C8B-B14F-4D97-AF65-F5344CB8AC3E}">
        <p14:creationId xmlns:p14="http://schemas.microsoft.com/office/powerpoint/2010/main" val="861055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7D4D0-04F7-C03C-533E-BC84929DE7B1}"/>
              </a:ext>
            </a:extLst>
          </p:cNvPr>
          <p:cNvSpPr>
            <a:spLocks noGrp="1"/>
          </p:cNvSpPr>
          <p:nvPr>
            <p:ph type="title"/>
          </p:nvPr>
        </p:nvSpPr>
        <p:spPr/>
        <p:txBody>
          <a:bodyPr>
            <a:normAutofit fontScale="90000"/>
          </a:bodyPr>
          <a:lstStyle/>
          <a:p>
            <a:pPr algn="ctr"/>
            <a:r>
              <a:rPr lang="en-US" b="1" dirty="0">
                <a:solidFill>
                  <a:srgbClr val="C00000"/>
                </a:solidFill>
              </a:rPr>
              <a:t>Game Playing: AlphaGo</a:t>
            </a:r>
            <a:br>
              <a:rPr lang="en-US" b="1" dirty="0">
                <a:solidFill>
                  <a:srgbClr val="C00000"/>
                </a:solidFill>
              </a:rPr>
            </a:br>
            <a:r>
              <a:rPr lang="en-US" b="1" dirty="0">
                <a:solidFill>
                  <a:srgbClr val="C00000"/>
                </a:solidFill>
              </a:rPr>
              <a:t>2016</a:t>
            </a:r>
            <a:r>
              <a:rPr lang="en-US" dirty="0">
                <a:solidFill>
                  <a:srgbClr val="C00000"/>
                </a:solidFill>
              </a:rPr>
              <a:t>:</a:t>
            </a:r>
            <a:br>
              <a:rPr lang="en-US" dirty="0">
                <a:solidFill>
                  <a:srgbClr val="C00000"/>
                </a:solidFill>
              </a:rPr>
            </a:br>
            <a:endParaRPr lang="en-IN" dirty="0">
              <a:solidFill>
                <a:srgbClr val="C00000"/>
              </a:solidFill>
            </a:endParaRPr>
          </a:p>
        </p:txBody>
      </p:sp>
      <p:sp>
        <p:nvSpPr>
          <p:cNvPr id="3" name="Content Placeholder 2">
            <a:extLst>
              <a:ext uri="{FF2B5EF4-FFF2-40B4-BE49-F238E27FC236}">
                <a16:creationId xmlns:a16="http://schemas.microsoft.com/office/drawing/2014/main" id="{6C91C88E-5BEB-064A-7BB7-C6D3B64B79FA}"/>
              </a:ext>
            </a:extLst>
          </p:cNvPr>
          <p:cNvSpPr>
            <a:spLocks noGrp="1"/>
          </p:cNvSpPr>
          <p:nvPr>
            <p:ph idx="1"/>
          </p:nvPr>
        </p:nvSpPr>
        <p:spPr/>
        <p:txBody>
          <a:bodyPr>
            <a:normAutofit/>
          </a:bodyPr>
          <a:lstStyle/>
          <a:p>
            <a:pPr>
              <a:buFont typeface="Arial" panose="020B0604020202020204" pitchFamily="34" charset="0"/>
              <a:buChar char="•"/>
            </a:pPr>
            <a:r>
              <a:rPr lang="en-US" dirty="0"/>
              <a:t>Developed by </a:t>
            </a:r>
            <a:r>
              <a:rPr lang="en-US" b="1" dirty="0"/>
              <a:t>DeepMind</a:t>
            </a:r>
            <a:r>
              <a:rPr lang="en-US" dirty="0"/>
              <a:t>.</a:t>
            </a:r>
          </a:p>
          <a:p>
            <a:r>
              <a:rPr lang="en-US" b="1" dirty="0"/>
              <a:t>Achievement</a:t>
            </a:r>
            <a:r>
              <a:rPr lang="en-US" dirty="0"/>
              <a:t>:</a:t>
            </a:r>
          </a:p>
          <a:p>
            <a:pPr>
              <a:buFont typeface="Arial" panose="020B0604020202020204" pitchFamily="34" charset="0"/>
              <a:buChar char="•"/>
            </a:pPr>
            <a:r>
              <a:rPr lang="en-US" dirty="0"/>
              <a:t>AlphaGo defeated world champion Go player Lee Sedol in a five-game match, winning four games to one.</a:t>
            </a:r>
          </a:p>
          <a:p>
            <a:r>
              <a:rPr lang="en-US" b="1" dirty="0"/>
              <a:t>Impact</a:t>
            </a:r>
            <a:r>
              <a:rPr lang="en-US" dirty="0"/>
              <a:t>:</a:t>
            </a:r>
          </a:p>
          <a:p>
            <a:pPr>
              <a:buFont typeface="Arial" panose="020B0604020202020204" pitchFamily="34" charset="0"/>
              <a:buChar char="•"/>
            </a:pPr>
            <a:r>
              <a:rPr lang="en-US" dirty="0"/>
              <a:t>The victory of AlphaGo highlighted the capabilities of deep reinforcement learning in mastering complex strategic games, previously considered a significant challenge for AI.</a:t>
            </a:r>
          </a:p>
          <a:p>
            <a:endParaRPr lang="en-IN" dirty="0"/>
          </a:p>
        </p:txBody>
      </p:sp>
      <p:sp>
        <p:nvSpPr>
          <p:cNvPr id="4" name="Slide Number Placeholder 3">
            <a:extLst>
              <a:ext uri="{FF2B5EF4-FFF2-40B4-BE49-F238E27FC236}">
                <a16:creationId xmlns:a16="http://schemas.microsoft.com/office/drawing/2014/main" id="{09209BD7-7B71-1651-B38C-997D060215F1}"/>
              </a:ext>
            </a:extLst>
          </p:cNvPr>
          <p:cNvSpPr>
            <a:spLocks noGrp="1"/>
          </p:cNvSpPr>
          <p:nvPr>
            <p:ph type="sldNum" sz="quarter" idx="12"/>
          </p:nvPr>
        </p:nvSpPr>
        <p:spPr/>
        <p:txBody>
          <a:bodyPr/>
          <a:lstStyle/>
          <a:p>
            <a:fld id="{CBABCCC1-BF11-4F37-963E-1BCD5B23FD72}" type="slidenum">
              <a:rPr lang="en-IN" smtClean="0"/>
              <a:t>20</a:t>
            </a:fld>
            <a:endParaRPr lang="en-IN"/>
          </a:p>
        </p:txBody>
      </p:sp>
    </p:spTree>
    <p:extLst>
      <p:ext uri="{BB962C8B-B14F-4D97-AF65-F5344CB8AC3E}">
        <p14:creationId xmlns:p14="http://schemas.microsoft.com/office/powerpoint/2010/main" val="2160122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D889B-D239-77BA-0994-5DD9DD172FB1}"/>
              </a:ext>
            </a:extLst>
          </p:cNvPr>
          <p:cNvSpPr>
            <a:spLocks noGrp="1"/>
          </p:cNvSpPr>
          <p:nvPr>
            <p:ph type="title"/>
          </p:nvPr>
        </p:nvSpPr>
        <p:spPr/>
        <p:txBody>
          <a:bodyPr>
            <a:normAutofit fontScale="90000"/>
          </a:bodyPr>
          <a:lstStyle/>
          <a:p>
            <a:pPr algn="ctr"/>
            <a:r>
              <a:rPr lang="en-US" b="1" dirty="0">
                <a:solidFill>
                  <a:srgbClr val="C00000"/>
                </a:solidFill>
              </a:rPr>
              <a:t>Autonomous Driving: Waymo</a:t>
            </a:r>
            <a:br>
              <a:rPr lang="en-US" b="1" dirty="0">
                <a:solidFill>
                  <a:srgbClr val="C00000"/>
                </a:solidFill>
              </a:rPr>
            </a:br>
            <a:r>
              <a:rPr lang="en-US" b="1" dirty="0">
                <a:solidFill>
                  <a:srgbClr val="C00000"/>
                </a:solidFill>
              </a:rPr>
              <a:t>Ongoing</a:t>
            </a:r>
            <a:r>
              <a:rPr lang="en-US" dirty="0">
                <a:solidFill>
                  <a:srgbClr val="C00000"/>
                </a:solidFill>
              </a:rPr>
              <a:t>:</a:t>
            </a:r>
            <a:br>
              <a:rPr lang="en-US" dirty="0">
                <a:solidFill>
                  <a:srgbClr val="C00000"/>
                </a:solidFill>
              </a:rPr>
            </a:br>
            <a:endParaRPr lang="en-IN" dirty="0">
              <a:solidFill>
                <a:srgbClr val="C00000"/>
              </a:solidFill>
            </a:endParaRPr>
          </a:p>
        </p:txBody>
      </p:sp>
      <p:sp>
        <p:nvSpPr>
          <p:cNvPr id="3" name="Content Placeholder 2">
            <a:extLst>
              <a:ext uri="{FF2B5EF4-FFF2-40B4-BE49-F238E27FC236}">
                <a16:creationId xmlns:a16="http://schemas.microsoft.com/office/drawing/2014/main" id="{12A4CED7-904F-4342-8D2B-C503F9D4137B}"/>
              </a:ext>
            </a:extLst>
          </p:cNvPr>
          <p:cNvSpPr>
            <a:spLocks noGrp="1"/>
          </p:cNvSpPr>
          <p:nvPr>
            <p:ph idx="1"/>
          </p:nvPr>
        </p:nvSpPr>
        <p:spPr/>
        <p:txBody>
          <a:bodyPr>
            <a:normAutofit/>
          </a:bodyPr>
          <a:lstStyle/>
          <a:p>
            <a:pPr>
              <a:buFont typeface="Arial" panose="020B0604020202020204" pitchFamily="34" charset="0"/>
              <a:buChar char="•"/>
            </a:pPr>
            <a:r>
              <a:rPr lang="en-US" dirty="0"/>
              <a:t>Developed by </a:t>
            </a:r>
            <a:r>
              <a:rPr lang="en-US" b="1" dirty="0"/>
              <a:t>Waymo</a:t>
            </a:r>
            <a:r>
              <a:rPr lang="en-US" dirty="0"/>
              <a:t>, a subsidiary of Alphabet Inc.</a:t>
            </a:r>
          </a:p>
          <a:p>
            <a:r>
              <a:rPr lang="en-US" b="1" dirty="0"/>
              <a:t>Achievement</a:t>
            </a:r>
            <a:r>
              <a:rPr lang="en-US" dirty="0"/>
              <a:t>:</a:t>
            </a:r>
          </a:p>
          <a:p>
            <a:pPr>
              <a:buFont typeface="Arial" panose="020B0604020202020204" pitchFamily="34" charset="0"/>
              <a:buChar char="•"/>
            </a:pPr>
            <a:r>
              <a:rPr lang="en-US" dirty="0"/>
              <a:t>Waymo has been pioneering self-driving car technology with extensive real-world testing and has logged millions of miles on public roads.</a:t>
            </a:r>
          </a:p>
          <a:p>
            <a:r>
              <a:rPr lang="en-US" b="1" dirty="0"/>
              <a:t>Impact</a:t>
            </a:r>
            <a:r>
              <a:rPr lang="en-US" dirty="0"/>
              <a:t>:</a:t>
            </a:r>
          </a:p>
          <a:p>
            <a:pPr>
              <a:buFont typeface="Arial" panose="020B0604020202020204" pitchFamily="34" charset="0"/>
              <a:buChar char="•"/>
            </a:pPr>
            <a:r>
              <a:rPr lang="en-US" dirty="0"/>
              <a:t>Waymo's advancements are paving the way for the future of autonomous transportation, promising safer and more efficient driving experiences.</a:t>
            </a:r>
          </a:p>
          <a:p>
            <a:endParaRPr lang="en-IN" dirty="0"/>
          </a:p>
        </p:txBody>
      </p:sp>
      <p:sp>
        <p:nvSpPr>
          <p:cNvPr id="4" name="Slide Number Placeholder 3">
            <a:extLst>
              <a:ext uri="{FF2B5EF4-FFF2-40B4-BE49-F238E27FC236}">
                <a16:creationId xmlns:a16="http://schemas.microsoft.com/office/drawing/2014/main" id="{B9C568A6-1DE7-28A7-7A78-689C28E57EDE}"/>
              </a:ext>
            </a:extLst>
          </p:cNvPr>
          <p:cNvSpPr>
            <a:spLocks noGrp="1"/>
          </p:cNvSpPr>
          <p:nvPr>
            <p:ph type="sldNum" sz="quarter" idx="12"/>
          </p:nvPr>
        </p:nvSpPr>
        <p:spPr/>
        <p:txBody>
          <a:bodyPr/>
          <a:lstStyle/>
          <a:p>
            <a:fld id="{CBABCCC1-BF11-4F37-963E-1BCD5B23FD72}" type="slidenum">
              <a:rPr lang="en-IN" smtClean="0"/>
              <a:t>21</a:t>
            </a:fld>
            <a:endParaRPr lang="en-IN"/>
          </a:p>
        </p:txBody>
      </p:sp>
    </p:spTree>
    <p:extLst>
      <p:ext uri="{BB962C8B-B14F-4D97-AF65-F5344CB8AC3E}">
        <p14:creationId xmlns:p14="http://schemas.microsoft.com/office/powerpoint/2010/main" val="42683946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D356A-271A-A2C5-389D-8EAFE0BE3EBE}"/>
              </a:ext>
            </a:extLst>
          </p:cNvPr>
          <p:cNvSpPr>
            <a:spLocks noGrp="1"/>
          </p:cNvSpPr>
          <p:nvPr>
            <p:ph type="title"/>
          </p:nvPr>
        </p:nvSpPr>
        <p:spPr/>
        <p:txBody>
          <a:bodyPr>
            <a:normAutofit fontScale="90000"/>
          </a:bodyPr>
          <a:lstStyle/>
          <a:p>
            <a:pPr algn="ctr"/>
            <a:r>
              <a:rPr lang="en-US" b="1" dirty="0">
                <a:solidFill>
                  <a:srgbClr val="C00000"/>
                </a:solidFill>
              </a:rPr>
              <a:t>Medical Imaging: DeepMind’s AlphaFold</a:t>
            </a:r>
            <a:br>
              <a:rPr lang="en-US" b="1" dirty="0">
                <a:solidFill>
                  <a:srgbClr val="C00000"/>
                </a:solidFill>
              </a:rPr>
            </a:br>
            <a:r>
              <a:rPr lang="en-US" b="1" dirty="0">
                <a:solidFill>
                  <a:srgbClr val="C00000"/>
                </a:solidFill>
              </a:rPr>
              <a:t>2020</a:t>
            </a:r>
            <a:r>
              <a:rPr lang="en-US" dirty="0">
                <a:solidFill>
                  <a:srgbClr val="C00000"/>
                </a:solidFill>
              </a:rPr>
              <a:t>:</a:t>
            </a:r>
            <a:br>
              <a:rPr lang="en-US" dirty="0">
                <a:solidFill>
                  <a:srgbClr val="C00000"/>
                </a:solidFill>
              </a:rPr>
            </a:br>
            <a:endParaRPr lang="en-IN" dirty="0">
              <a:solidFill>
                <a:srgbClr val="C00000"/>
              </a:solidFill>
            </a:endParaRPr>
          </a:p>
        </p:txBody>
      </p:sp>
      <p:sp>
        <p:nvSpPr>
          <p:cNvPr id="3" name="Content Placeholder 2">
            <a:extLst>
              <a:ext uri="{FF2B5EF4-FFF2-40B4-BE49-F238E27FC236}">
                <a16:creationId xmlns:a16="http://schemas.microsoft.com/office/drawing/2014/main" id="{83B0EA19-972F-C8FF-676D-6F0547896948}"/>
              </a:ext>
            </a:extLst>
          </p:cNvPr>
          <p:cNvSpPr>
            <a:spLocks noGrp="1"/>
          </p:cNvSpPr>
          <p:nvPr>
            <p:ph idx="1"/>
          </p:nvPr>
        </p:nvSpPr>
        <p:spPr/>
        <p:txBody>
          <a:bodyPr>
            <a:normAutofit lnSpcReduction="10000"/>
          </a:bodyPr>
          <a:lstStyle/>
          <a:p>
            <a:pPr>
              <a:buFont typeface="Arial" panose="020B0604020202020204" pitchFamily="34" charset="0"/>
              <a:buChar char="•"/>
            </a:pPr>
            <a:r>
              <a:rPr lang="en-US" dirty="0"/>
              <a:t>Developed by </a:t>
            </a:r>
            <a:r>
              <a:rPr lang="en-US" b="1" dirty="0"/>
              <a:t>DeepMind</a:t>
            </a:r>
            <a:r>
              <a:rPr lang="en-US" dirty="0"/>
              <a:t>.</a:t>
            </a:r>
          </a:p>
          <a:p>
            <a:r>
              <a:rPr lang="en-US" b="1" dirty="0"/>
              <a:t>Achievement</a:t>
            </a:r>
            <a:r>
              <a:rPr lang="en-US" dirty="0"/>
              <a:t>:</a:t>
            </a:r>
          </a:p>
          <a:p>
            <a:pPr>
              <a:buFont typeface="Arial" panose="020B0604020202020204" pitchFamily="34" charset="0"/>
              <a:buChar char="•"/>
            </a:pPr>
            <a:r>
              <a:rPr lang="en-US" dirty="0"/>
              <a:t>AlphaFold solved the protein folding problem, achieving unprecedented accuracy in predicting protein structures, as recognized by the CASP14 competition.</a:t>
            </a:r>
          </a:p>
          <a:p>
            <a:r>
              <a:rPr lang="en-US" b="1" dirty="0"/>
              <a:t>Impact</a:t>
            </a:r>
            <a:r>
              <a:rPr lang="en-US" dirty="0"/>
              <a:t>:</a:t>
            </a:r>
          </a:p>
          <a:p>
            <a:pPr>
              <a:buFont typeface="Arial" panose="020B0604020202020204" pitchFamily="34" charset="0"/>
              <a:buChar char="•"/>
            </a:pPr>
            <a:r>
              <a:rPr lang="en-US" dirty="0"/>
              <a:t>AlphaFold's breakthrough revolutionized the field of structural biology and opened new avenues for drug discovery, with potential applications in understanding diseases and developing new treatments.</a:t>
            </a:r>
          </a:p>
          <a:p>
            <a:endParaRPr lang="en-IN" dirty="0"/>
          </a:p>
        </p:txBody>
      </p:sp>
      <p:sp>
        <p:nvSpPr>
          <p:cNvPr id="4" name="Slide Number Placeholder 3">
            <a:extLst>
              <a:ext uri="{FF2B5EF4-FFF2-40B4-BE49-F238E27FC236}">
                <a16:creationId xmlns:a16="http://schemas.microsoft.com/office/drawing/2014/main" id="{C6454FD0-20A5-CFB3-9694-3E95B6175177}"/>
              </a:ext>
            </a:extLst>
          </p:cNvPr>
          <p:cNvSpPr>
            <a:spLocks noGrp="1"/>
          </p:cNvSpPr>
          <p:nvPr>
            <p:ph type="sldNum" sz="quarter" idx="12"/>
          </p:nvPr>
        </p:nvSpPr>
        <p:spPr/>
        <p:txBody>
          <a:bodyPr/>
          <a:lstStyle/>
          <a:p>
            <a:fld id="{CBABCCC1-BF11-4F37-963E-1BCD5B23FD72}" type="slidenum">
              <a:rPr lang="en-IN" smtClean="0"/>
              <a:t>22</a:t>
            </a:fld>
            <a:endParaRPr lang="en-IN"/>
          </a:p>
        </p:txBody>
      </p:sp>
    </p:spTree>
    <p:extLst>
      <p:ext uri="{BB962C8B-B14F-4D97-AF65-F5344CB8AC3E}">
        <p14:creationId xmlns:p14="http://schemas.microsoft.com/office/powerpoint/2010/main" val="1328992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B50E5A-EDE8-829E-11D5-96C7ADD17277}"/>
              </a:ext>
            </a:extLst>
          </p:cNvPr>
          <p:cNvSpPr>
            <a:spLocks noGrp="1"/>
          </p:cNvSpPr>
          <p:nvPr>
            <p:ph type="sldNum" sz="quarter" idx="12"/>
          </p:nvPr>
        </p:nvSpPr>
        <p:spPr/>
        <p:txBody>
          <a:bodyPr/>
          <a:lstStyle/>
          <a:p>
            <a:fld id="{CBABCCC1-BF11-4F37-963E-1BCD5B23FD72}" type="slidenum">
              <a:rPr lang="en-IN" smtClean="0"/>
              <a:t>23</a:t>
            </a:fld>
            <a:endParaRPr lang="en-IN"/>
          </a:p>
        </p:txBody>
      </p:sp>
      <p:sp>
        <p:nvSpPr>
          <p:cNvPr id="5" name="Rounded Rectangle 17">
            <a:extLst>
              <a:ext uri="{FF2B5EF4-FFF2-40B4-BE49-F238E27FC236}">
                <a16:creationId xmlns:a16="http://schemas.microsoft.com/office/drawing/2014/main" id="{FF7FCBAE-AF8A-20EC-00D5-4D8C443D0180}"/>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latin typeface="Poppins" panose="00000500000000000000" pitchFamily="2" charset="0"/>
                <a:cs typeface="Poppins" panose="00000500000000000000" pitchFamily="2" charset="0"/>
              </a:rPr>
              <a:t>Self-Assessment Questions</a:t>
            </a:r>
            <a:endParaRPr lang="en-US" sz="2000" dirty="0">
              <a:solidFill>
                <a:schemeClr val="bg1"/>
              </a:solidFill>
              <a:latin typeface="Poppins" panose="00000500000000000000" pitchFamily="2" charset="0"/>
              <a:cs typeface="Poppins" panose="00000500000000000000" pitchFamily="2" charset="0"/>
            </a:endParaRPr>
          </a:p>
        </p:txBody>
      </p:sp>
      <p:sp>
        <p:nvSpPr>
          <p:cNvPr id="6" name="Google Shape;502;p17">
            <a:extLst>
              <a:ext uri="{FF2B5EF4-FFF2-40B4-BE49-F238E27FC236}">
                <a16:creationId xmlns:a16="http://schemas.microsoft.com/office/drawing/2014/main" id="{BC83675A-A959-717C-5A3D-0F10E3B568DD}"/>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IN" sz="2000" b="0" i="0" dirty="0">
                <a:solidFill>
                  <a:schemeClr val="bg1"/>
                </a:solidFill>
                <a:effectLst/>
                <a:latin typeface="Arial" panose="020B0604020202020204" pitchFamily="34" charset="0"/>
              </a:rPr>
              <a:t>What is deep learning?</a:t>
            </a:r>
            <a:endParaRPr sz="20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7" name="Rounded Rectangle 17">
            <a:extLst>
              <a:ext uri="{FF2B5EF4-FFF2-40B4-BE49-F238E27FC236}">
                <a16:creationId xmlns:a16="http://schemas.microsoft.com/office/drawing/2014/main" id="{F2030ED5-8883-43CF-9128-54FFC6BEA740}"/>
              </a:ext>
            </a:extLst>
          </p:cNvPr>
          <p:cNvSpPr/>
          <p:nvPr/>
        </p:nvSpPr>
        <p:spPr>
          <a:xfrm>
            <a:off x="1009895" y="1901705"/>
            <a:ext cx="6265976"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spcAft>
                <a:spcPts val="0"/>
              </a:spcAft>
            </a:pPr>
            <a:r>
              <a:rPr lang="en-US" sz="1600" b="0" i="0" dirty="0">
                <a:solidFill>
                  <a:schemeClr val="bg1"/>
                </a:solidFill>
                <a:effectLst/>
                <a:latin typeface="Arial" panose="020B0604020202020204" pitchFamily="34" charset="0"/>
              </a:rPr>
              <a:t>(a) A type of machine learning algorithm</a:t>
            </a:r>
            <a:endParaRPr lang="en-US" sz="1600" b="0" i="0" dirty="0">
              <a:solidFill>
                <a:schemeClr val="bg1"/>
              </a:solidFill>
              <a:effectLst/>
              <a:latin typeface="var(--body-font-family)"/>
            </a:endParaRPr>
          </a:p>
          <a:p>
            <a:pPr algn="l">
              <a:lnSpc>
                <a:spcPct val="150000"/>
              </a:lnSpc>
              <a:spcAft>
                <a:spcPts val="0"/>
              </a:spcAft>
            </a:pPr>
            <a:r>
              <a:rPr lang="en-US" sz="1600" b="0" i="0" dirty="0">
                <a:solidFill>
                  <a:schemeClr val="bg1"/>
                </a:solidFill>
                <a:effectLst/>
                <a:latin typeface="Arial" panose="020B0604020202020204" pitchFamily="34" charset="0"/>
              </a:rPr>
              <a:t>(b) A branch of artificial intelligence</a:t>
            </a:r>
            <a:endParaRPr lang="en-US" sz="1600" b="0" i="0" dirty="0">
              <a:solidFill>
                <a:schemeClr val="bg1"/>
              </a:solidFill>
              <a:effectLst/>
              <a:latin typeface="var(--body-font-family)"/>
            </a:endParaRPr>
          </a:p>
          <a:p>
            <a:pPr algn="l">
              <a:lnSpc>
                <a:spcPct val="150000"/>
              </a:lnSpc>
              <a:spcAft>
                <a:spcPts val="0"/>
              </a:spcAft>
            </a:pPr>
            <a:r>
              <a:rPr lang="en-US" sz="1600" b="0" i="0" dirty="0">
                <a:solidFill>
                  <a:schemeClr val="bg1"/>
                </a:solidFill>
                <a:effectLst/>
                <a:latin typeface="Arial" panose="020B0604020202020204" pitchFamily="34" charset="0"/>
              </a:rPr>
              <a:t>(c) A technique for training neural networks</a:t>
            </a:r>
            <a:endParaRPr lang="en-US" sz="1600" b="0" i="0" dirty="0">
              <a:solidFill>
                <a:schemeClr val="bg1"/>
              </a:solidFill>
              <a:effectLst/>
              <a:latin typeface="var(--body-font-family)"/>
            </a:endParaRPr>
          </a:p>
          <a:p>
            <a:pPr algn="l">
              <a:lnSpc>
                <a:spcPct val="150000"/>
              </a:lnSpc>
              <a:spcAft>
                <a:spcPts val="0"/>
              </a:spcAft>
            </a:pPr>
            <a:r>
              <a:rPr lang="en-US" sz="1600" b="0" i="0" dirty="0">
                <a:solidFill>
                  <a:schemeClr val="bg1"/>
                </a:solidFill>
                <a:effectLst/>
                <a:latin typeface="Arial" panose="020B0604020202020204" pitchFamily="34" charset="0"/>
              </a:rPr>
              <a:t>(d) All of the above</a:t>
            </a:r>
            <a:endParaRPr lang="en-US" sz="1600" b="0" i="0" dirty="0">
              <a:solidFill>
                <a:schemeClr val="bg1"/>
              </a:solidFill>
              <a:effectLst/>
              <a:latin typeface="var(--body-font-family)"/>
            </a:endParaRPr>
          </a:p>
        </p:txBody>
      </p:sp>
      <p:sp>
        <p:nvSpPr>
          <p:cNvPr id="8" name="Google Shape;502;p17">
            <a:extLst>
              <a:ext uri="{FF2B5EF4-FFF2-40B4-BE49-F238E27FC236}">
                <a16:creationId xmlns:a16="http://schemas.microsoft.com/office/drawing/2014/main" id="{0A7814B8-5BF6-D025-D881-6DCF3C978722}"/>
              </a:ext>
            </a:extLst>
          </p:cNvPr>
          <p:cNvSpPr/>
          <p:nvPr/>
        </p:nvSpPr>
        <p:spPr>
          <a:xfrm>
            <a:off x="1009895" y="36679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2000" b="0" i="0" dirty="0">
                <a:solidFill>
                  <a:schemeClr val="bg1"/>
                </a:solidFill>
                <a:effectLst/>
                <a:latin typeface="Arial" panose="020B0604020202020204" pitchFamily="34" charset="0"/>
              </a:rPr>
              <a:t>What is the purpose of an activation function in a neural network?</a:t>
            </a:r>
            <a:endParaRPr lang="en-US" sz="20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0" name="Rounded Rectangle 17">
            <a:extLst>
              <a:ext uri="{FF2B5EF4-FFF2-40B4-BE49-F238E27FC236}">
                <a16:creationId xmlns:a16="http://schemas.microsoft.com/office/drawing/2014/main" id="{A76A5888-67DA-ED95-F995-F4FA16086975}"/>
              </a:ext>
            </a:extLst>
          </p:cNvPr>
          <p:cNvSpPr/>
          <p:nvPr/>
        </p:nvSpPr>
        <p:spPr>
          <a:xfrm>
            <a:off x="1009894" y="4431802"/>
            <a:ext cx="6265977"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50000"/>
              </a:lnSpc>
              <a:spcAft>
                <a:spcPts val="0"/>
              </a:spcAft>
            </a:pPr>
            <a:r>
              <a:rPr lang="en-US" sz="1600" b="0" i="0" dirty="0">
                <a:solidFill>
                  <a:schemeClr val="bg1"/>
                </a:solidFill>
                <a:effectLst/>
                <a:latin typeface="Arial" panose="020B0604020202020204" pitchFamily="34" charset="0"/>
              </a:rPr>
              <a:t>(a) It introduces non-linearity to the network</a:t>
            </a:r>
            <a:endParaRPr lang="en-US" sz="1600" b="0" i="0" dirty="0">
              <a:solidFill>
                <a:schemeClr val="bg1"/>
              </a:solidFill>
              <a:effectLst/>
              <a:latin typeface="var(--body-font-family)"/>
            </a:endParaRPr>
          </a:p>
          <a:p>
            <a:pPr algn="l">
              <a:lnSpc>
                <a:spcPct val="150000"/>
              </a:lnSpc>
              <a:spcAft>
                <a:spcPts val="0"/>
              </a:spcAft>
            </a:pPr>
            <a:r>
              <a:rPr lang="en-US" sz="1600" b="0" i="0" dirty="0">
                <a:solidFill>
                  <a:schemeClr val="bg1"/>
                </a:solidFill>
                <a:effectLst/>
                <a:latin typeface="Arial" panose="020B0604020202020204" pitchFamily="34" charset="0"/>
              </a:rPr>
              <a:t>(b) It determines the output of a neuron</a:t>
            </a:r>
            <a:endParaRPr lang="en-US" sz="1600" b="0" i="0" dirty="0">
              <a:solidFill>
                <a:schemeClr val="bg1"/>
              </a:solidFill>
              <a:effectLst/>
              <a:latin typeface="var(--body-font-family)"/>
            </a:endParaRPr>
          </a:p>
          <a:p>
            <a:pPr algn="l">
              <a:lnSpc>
                <a:spcPct val="150000"/>
              </a:lnSpc>
              <a:spcAft>
                <a:spcPts val="0"/>
              </a:spcAft>
            </a:pPr>
            <a:r>
              <a:rPr lang="en-US" sz="1600" b="0" i="0" dirty="0">
                <a:solidFill>
                  <a:schemeClr val="bg1"/>
                </a:solidFill>
                <a:effectLst/>
                <a:latin typeface="Arial" panose="020B0604020202020204" pitchFamily="34" charset="0"/>
              </a:rPr>
              <a:t>(c) It helps in backpropagation</a:t>
            </a:r>
            <a:endParaRPr lang="en-US" sz="1600" b="0" i="0" dirty="0">
              <a:solidFill>
                <a:schemeClr val="bg1"/>
              </a:solidFill>
              <a:effectLst/>
              <a:latin typeface="var(--body-font-family)"/>
            </a:endParaRPr>
          </a:p>
          <a:p>
            <a:pPr algn="l">
              <a:lnSpc>
                <a:spcPct val="150000"/>
              </a:lnSpc>
              <a:spcAft>
                <a:spcPts val="0"/>
              </a:spcAft>
            </a:pPr>
            <a:r>
              <a:rPr lang="en-US" sz="1600" b="0" i="0" dirty="0">
                <a:solidFill>
                  <a:schemeClr val="bg1"/>
                </a:solidFill>
                <a:effectLst/>
                <a:latin typeface="Arial" panose="020B0604020202020204" pitchFamily="34" charset="0"/>
              </a:rPr>
              <a:t>(d) All of the above</a:t>
            </a:r>
            <a:endParaRPr lang="en-US" sz="1600" b="0" i="0" dirty="0">
              <a:solidFill>
                <a:schemeClr val="bg1"/>
              </a:solidFill>
              <a:effectLst/>
              <a:latin typeface="var(--body-font-family)"/>
            </a:endParaRPr>
          </a:p>
        </p:txBody>
      </p:sp>
    </p:spTree>
    <p:extLst>
      <p:ext uri="{BB962C8B-B14F-4D97-AF65-F5344CB8AC3E}">
        <p14:creationId xmlns:p14="http://schemas.microsoft.com/office/powerpoint/2010/main" val="1659529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 name="Rounded Rectangle 17"/>
          <p:cNvSpPr/>
          <p:nvPr/>
        </p:nvSpPr>
        <p:spPr>
          <a:xfrm>
            <a:off x="3348000" y="576720"/>
            <a:ext cx="5470920" cy="600480"/>
          </a:xfrm>
          <a:prstGeom prst="roundRect">
            <a:avLst>
              <a:gd name="adj" fmla="val 16667"/>
            </a:avLst>
          </a:prstGeom>
          <a:solidFill>
            <a:srgbClr val="BA2532"/>
          </a:solidFill>
          <a:ln>
            <a:noFill/>
          </a:ln>
          <a:effectLst>
            <a:outerShdw blurRad="50760" dist="37674"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buNone/>
            </a:pPr>
            <a:r>
              <a:rPr lang="en-US" sz="3200" b="0" strike="noStrike" spc="-1">
                <a:solidFill>
                  <a:srgbClr val="FFFFFF"/>
                </a:solidFill>
                <a:latin typeface="Calibri"/>
                <a:ea typeface="DejaVu Sans"/>
              </a:rPr>
              <a:t>TERMINAL QUESTIONS</a:t>
            </a:r>
            <a:endParaRPr lang="en-IN" sz="3200" b="0" strike="noStrike" spc="-1">
              <a:latin typeface="Arial"/>
            </a:endParaRPr>
          </a:p>
        </p:txBody>
      </p:sp>
      <p:sp>
        <p:nvSpPr>
          <p:cNvPr id="282" name="TextBox 8"/>
          <p:cNvSpPr/>
          <p:nvPr/>
        </p:nvSpPr>
        <p:spPr>
          <a:xfrm>
            <a:off x="1537920" y="2211120"/>
            <a:ext cx="9573480" cy="307317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2900" indent="-342900">
              <a:buAutoNum type="arabicPeriod"/>
            </a:pPr>
            <a:r>
              <a:rPr lang="en-US" sz="2000" dirty="0">
                <a:solidFill>
                  <a:schemeClr val="tx1"/>
                </a:solidFill>
              </a:rPr>
              <a:t>Define Deep Learning </a:t>
            </a:r>
          </a:p>
          <a:p>
            <a:pPr marL="342900" indent="-342900">
              <a:buAutoNum type="arabicPeriod"/>
            </a:pPr>
            <a:r>
              <a:rPr lang="en-US" sz="2000" dirty="0">
                <a:solidFill>
                  <a:schemeClr val="tx1"/>
                </a:solidFill>
              </a:rPr>
              <a:t>Explain the need of Deep Learning. </a:t>
            </a:r>
          </a:p>
          <a:p>
            <a:pPr marL="342900" indent="-342900">
              <a:buAutoNum type="arabicPeriod"/>
            </a:pPr>
            <a:r>
              <a:rPr lang="en-US" sz="2000" dirty="0"/>
              <a:t>Outline the history of deep learning</a:t>
            </a:r>
          </a:p>
          <a:p>
            <a:pPr marL="342900" indent="-342900">
              <a:buAutoNum type="arabicPeriod"/>
            </a:pPr>
            <a:r>
              <a:rPr lang="en-US" sz="2000" dirty="0"/>
              <a:t>List out the differences between DL and ML</a:t>
            </a:r>
          </a:p>
          <a:p>
            <a:pPr marL="342900" indent="-342900">
              <a:buAutoNum type="arabicPeriod"/>
            </a:pPr>
            <a:r>
              <a:rPr lang="en-US" sz="2000" dirty="0"/>
              <a:t>Illustrate  Real time deep learning applications</a:t>
            </a:r>
          </a:p>
          <a:p>
            <a:pPr marL="342900" indent="-342900">
              <a:buFontTx/>
              <a:buAutoNum type="arabicPeriod"/>
            </a:pPr>
            <a:r>
              <a:rPr lang="en-US" sz="2000" dirty="0">
                <a:solidFill>
                  <a:schemeClr val="tx1"/>
                </a:solidFill>
              </a:rPr>
              <a:t>Summarize the Evolution of Deep Learning</a:t>
            </a:r>
          </a:p>
          <a:p>
            <a:endParaRPr lang="en-US" sz="2000" dirty="0"/>
          </a:p>
          <a:p>
            <a:pPr marL="342900" indent="-342900">
              <a:buAutoNum type="arabicPeriod"/>
            </a:pPr>
            <a:endParaRPr lang="en-US" sz="2000" dirty="0">
              <a:solidFill>
                <a:schemeClr val="tx1"/>
              </a:solidFill>
            </a:endParaRPr>
          </a:p>
          <a:p>
            <a:pPr>
              <a:lnSpc>
                <a:spcPct val="200000"/>
              </a:lnSpc>
              <a:buNone/>
            </a:pPr>
            <a:endParaRPr lang="en-IN" sz="20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1250"/>
    </mc:Choice>
    <mc:Fallback xmlns:p15="http://schemas.microsoft.com/office/powerpoint/2012/main" xmlns="">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fade">
                                      <p:cBhvr additive="repl">
                                        <p:cTn id="7" dur="5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IN"/>
            </a:defPPr>
            <a:lvl1pPr algn="ctr" rtl="0" eaLnBrk="1" fontAlgn="auto" hangingPunct="1">
              <a:spcBef>
                <a:spcPts val="0"/>
              </a:spcBef>
              <a:spcAft>
                <a:spcPts val="0"/>
              </a:spcAft>
              <a:defRPr sz="1200" kern="1200">
                <a:solidFill>
                  <a:schemeClr val="tx1">
                    <a:tint val="75000"/>
                  </a:schemeClr>
                </a:solidFill>
                <a:latin typeface="+mn-lt"/>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a:lstStyle>
          <a:p>
            <a:r>
              <a:rPr lang="en-US"/>
              <a:t>Deep learning</a:t>
            </a:r>
          </a:p>
        </p:txBody>
      </p:sp>
      <p:sp>
        <p:nvSpPr>
          <p:cNvPr id="5" name="Slide Number Placeholder 4"/>
          <p:cNvSpPr>
            <a:spLocks noGrp="1"/>
          </p:cNvSpPr>
          <p:nvPr>
            <p:ph type="sldNum" sz="quarter" idx="12"/>
          </p:nvPr>
        </p:nvSpPr>
        <p:spPr/>
        <p:txBody>
          <a:bodyPr/>
          <a:lstStyle/>
          <a:p>
            <a:fld id="{943DE3D9-547B-48C8-AECD-0F5196EAB393}" type="slidenum">
              <a:rPr lang="en-US" smtClean="0"/>
              <a:pPr/>
              <a:t>25</a:t>
            </a:fld>
            <a:endParaRPr lang="en-US"/>
          </a:p>
        </p:txBody>
      </p:sp>
      <p:sp>
        <p:nvSpPr>
          <p:cNvPr id="12" name="Text Placeholder 11"/>
          <p:cNvSpPr>
            <a:spLocks noGrp="1"/>
          </p:cNvSpPr>
          <p:nvPr>
            <p:ph idx="4294967295"/>
          </p:nvPr>
        </p:nvSpPr>
        <p:spPr>
          <a:xfrm>
            <a:off x="0" y="1825625"/>
            <a:ext cx="10515600" cy="4351338"/>
          </a:xfrm>
        </p:spPr>
        <p:txBody>
          <a:bodyPr/>
          <a:lstStyle/>
          <a:p>
            <a:pPr>
              <a:buFont typeface="Arial" pitchFamily="34" charset="0"/>
              <a:buChar char="•"/>
            </a:pPr>
            <a:endParaRPr lang="en-US" dirty="0">
              <a:solidFill>
                <a:schemeClr val="tx1"/>
              </a:solidFill>
            </a:endParaRPr>
          </a:p>
          <a:p>
            <a:pPr>
              <a:buFont typeface="Arial" pitchFamily="34" charset="0"/>
              <a:buChar char="•"/>
            </a:pPr>
            <a:endParaRPr lang="en-US" dirty="0">
              <a:solidFill>
                <a:schemeClr val="tx1"/>
              </a:solidFill>
            </a:endParaRPr>
          </a:p>
          <a:p>
            <a:endParaRPr lang="en-US" dirty="0"/>
          </a:p>
        </p:txBody>
      </p:sp>
      <p:sp>
        <p:nvSpPr>
          <p:cNvPr id="2" name="Rounded Rectangle 17">
            <a:extLst>
              <a:ext uri="{FF2B5EF4-FFF2-40B4-BE49-F238E27FC236}">
                <a16:creationId xmlns:a16="http://schemas.microsoft.com/office/drawing/2014/main" id="{B1F8CAC3-C864-49DC-85EF-B864380F9F99}"/>
              </a:ext>
            </a:extLst>
          </p:cNvPr>
          <p:cNvSpPr/>
          <p:nvPr/>
        </p:nvSpPr>
        <p:spPr>
          <a:xfrm>
            <a:off x="1574799" y="694337"/>
            <a:ext cx="8503265" cy="58826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6DBBD85B-B54E-AAC0-C5DC-D6112EC235D6}"/>
              </a:ext>
            </a:extLst>
          </p:cNvPr>
          <p:cNvSpPr txBox="1"/>
          <p:nvPr/>
        </p:nvSpPr>
        <p:spPr>
          <a:xfrm>
            <a:off x="1120876" y="1915318"/>
            <a:ext cx="10707329" cy="3783023"/>
          </a:xfrm>
          <a:prstGeom prst="rect">
            <a:avLst/>
          </a:prstGeom>
          <a:noFill/>
        </p:spPr>
        <p:txBody>
          <a:bodyPr wrap="square" rtlCol="0">
            <a:spAutoFit/>
          </a:bodyPr>
          <a:lstStyle/>
          <a:p>
            <a:pPr>
              <a:lnSpc>
                <a:spcPct val="150000"/>
              </a:lnSpc>
            </a:pPr>
            <a:r>
              <a:rPr lang="en-US" b="1" dirty="0"/>
              <a:t> Books:</a:t>
            </a:r>
          </a:p>
          <a:p>
            <a:pPr marL="342900" indent="-342900">
              <a:lnSpc>
                <a:spcPct val="150000"/>
              </a:lnSpc>
              <a:buAutoNum type="arabicPeriod"/>
            </a:pPr>
            <a:r>
              <a:rPr lang="en-US" dirty="0"/>
              <a:t>"Deep Learning" by Ian Goodfellow, Yoshua Bengio, and Aaron Courville</a:t>
            </a:r>
          </a:p>
          <a:p>
            <a:pPr marL="342900" indent="-342900">
              <a:lnSpc>
                <a:spcPct val="150000"/>
              </a:lnSpc>
              <a:buAutoNum type="arabicPeriod"/>
            </a:pPr>
            <a:r>
              <a:rPr lang="en-US" dirty="0"/>
              <a:t>"Natural Language Processing with </a:t>
            </a:r>
            <a:r>
              <a:rPr lang="en-US" dirty="0" err="1"/>
              <a:t>PyTorch</a:t>
            </a:r>
            <a:r>
              <a:rPr lang="en-US" dirty="0"/>
              <a:t>: Build Intelligent Language Applications Using Deep Learning" by </a:t>
            </a:r>
            <a:r>
              <a:rPr lang="en-US" dirty="0" err="1"/>
              <a:t>Delip</a:t>
            </a:r>
            <a:r>
              <a:rPr lang="en-US" dirty="0"/>
              <a:t> Rao and Brian McMahan</a:t>
            </a:r>
            <a:endParaRPr lang="en-US" b="1" dirty="0"/>
          </a:p>
          <a:p>
            <a:pPr marL="342900" indent="-342900">
              <a:lnSpc>
                <a:spcPct val="150000"/>
              </a:lnSpc>
              <a:buAutoNum type="arabicPeriod"/>
            </a:pPr>
            <a:r>
              <a:rPr lang="en-US" dirty="0"/>
              <a:t>"Transformers for Natural Language Processing: Build and Train State-of-the-Art Natural Language Processing Models Using Transformer's Architecture" by Denis Rothman</a:t>
            </a:r>
          </a:p>
          <a:p>
            <a:pPr>
              <a:lnSpc>
                <a:spcPct val="150000"/>
              </a:lnSpc>
            </a:pPr>
            <a:r>
              <a:rPr lang="en-US" b="1" dirty="0"/>
              <a:t>Web references:</a:t>
            </a:r>
          </a:p>
          <a:p>
            <a:pPr marL="342900" indent="-342900">
              <a:lnSpc>
                <a:spcPct val="150000"/>
              </a:lnSpc>
              <a:buAutoNum type="arabicPeriod"/>
            </a:pPr>
            <a:r>
              <a:rPr lang="en-US" b="1" dirty="0">
                <a:hlinkClick r:id="rId3"/>
              </a:rPr>
              <a:t>https://jalammar.github.io/illustrated-transformer/</a:t>
            </a:r>
            <a:endParaRPr lang="en-US" b="1" dirty="0"/>
          </a:p>
          <a:p>
            <a:pPr marL="342900" indent="-342900">
              <a:lnSpc>
                <a:spcPct val="150000"/>
              </a:lnSpc>
              <a:buAutoNum type="arabicPeriod"/>
            </a:pPr>
            <a:r>
              <a:rPr lang="en-US" b="1" dirty="0">
                <a:hlinkClick r:id="rId4"/>
              </a:rPr>
              <a:t>https://arxiv.org/abs/1706.03762</a:t>
            </a:r>
            <a:r>
              <a:rPr lang="en-GB" b="1" dirty="0"/>
              <a:t> </a:t>
            </a:r>
            <a:endParaRPr lang="en-US" dirty="0"/>
          </a:p>
        </p:txBody>
      </p:sp>
    </p:spTree>
    <p:extLst>
      <p:ext uri="{BB962C8B-B14F-4D97-AF65-F5344CB8AC3E}">
        <p14:creationId xmlns:p14="http://schemas.microsoft.com/office/powerpoint/2010/main" val="397847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414A43-3536-36E8-3E3D-65376059FBAB}"/>
              </a:ext>
            </a:extLst>
          </p:cNvPr>
          <p:cNvSpPr>
            <a:spLocks noGrp="1"/>
          </p:cNvSpPr>
          <p:nvPr>
            <p:ph type="sldNum" sz="quarter" idx="12"/>
          </p:nvPr>
        </p:nvSpPr>
        <p:spPr/>
        <p:txBody>
          <a:bodyPr/>
          <a:lstStyle/>
          <a:p>
            <a:fld id="{CBABCCC1-BF11-4F37-963E-1BCD5B23FD72}" type="slidenum">
              <a:rPr lang="en-IN" smtClean="0"/>
              <a:t>26</a:t>
            </a:fld>
            <a:endParaRPr lang="en-IN"/>
          </a:p>
        </p:txBody>
      </p:sp>
      <p:sp>
        <p:nvSpPr>
          <p:cNvPr id="9" name="Rounded Rectangle 3">
            <a:extLst>
              <a:ext uri="{FF2B5EF4-FFF2-40B4-BE49-F238E27FC236}">
                <a16:creationId xmlns:a16="http://schemas.microsoft.com/office/drawing/2014/main" id="{123CF2ED-4A2B-6EE3-D590-6AC370CEB3DA}"/>
              </a:ext>
            </a:extLst>
          </p:cNvPr>
          <p:cNvSpPr/>
          <p:nvPr/>
        </p:nvSpPr>
        <p:spPr>
          <a:xfrm>
            <a:off x="2541453" y="247782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Deep Learning</a:t>
            </a:r>
            <a:r>
              <a:rPr lang="en-US" sz="2400" b="1" cap="all" dirty="0">
                <a:ln/>
                <a:solidFill>
                  <a:srgbClr val="C00000"/>
                </a:solidFill>
                <a:cs typeface="Poppins" panose="00000500000000000000" pitchFamily="2" charset="0"/>
                <a:sym typeface="BioRhyme ExtraBold"/>
              </a:rPr>
              <a:t> </a:t>
            </a: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38727877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551</TotalTime>
  <Words>1830</Words>
  <Application>Microsoft Office PowerPoint</Application>
  <PresentationFormat>Widescreen</PresentationFormat>
  <Paragraphs>195</Paragraphs>
  <Slides>26</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BioRhyme ExtraBold</vt:lpstr>
      <vt:lpstr>Calibri</vt:lpstr>
      <vt:lpstr>Gill Sans MT</vt:lpstr>
      <vt:lpstr>Gill Sans MT (Body)</vt:lpstr>
      <vt:lpstr>Poppins</vt:lpstr>
      <vt:lpstr>Stencil</vt:lpstr>
      <vt:lpstr>var(--body-font-family)</vt:lpstr>
      <vt:lpstr>Gallery</vt:lpstr>
      <vt:lpstr>PowerPoint Presentation</vt:lpstr>
      <vt:lpstr>PowerPoint Presentation</vt:lpstr>
      <vt:lpstr>PowerPoint Presentation</vt:lpstr>
      <vt:lpstr>Machine Learning  Vs Deep Learning</vt:lpstr>
      <vt:lpstr>Machine Learning  Vs Deep Learning</vt:lpstr>
      <vt:lpstr>Why is DL useful? </vt:lpstr>
      <vt:lpstr>Deep Learning Basics</vt:lpstr>
      <vt:lpstr>Deep Learning Basics (cont..)</vt:lpstr>
      <vt:lpstr>Deep Learning Basics (cont..) ANN</vt:lpstr>
      <vt:lpstr>Artificial Neural Network</vt:lpstr>
      <vt:lpstr>Deep Learning History</vt:lpstr>
      <vt:lpstr>Deep Learning History (cont..)</vt:lpstr>
      <vt:lpstr>Evolution of Deep Learning</vt:lpstr>
      <vt:lpstr>Deep Learning Evolution</vt:lpstr>
      <vt:lpstr>Deep Learning Evolution (Cont..)</vt:lpstr>
      <vt:lpstr>Deep Learning Evolution (Cont..)</vt:lpstr>
      <vt:lpstr>Key Success Stories in Deep Learning  Image Recognition: AlexNet 2012: </vt:lpstr>
      <vt:lpstr>Speech Recognition: Google DeepMind’s WaveNet 2016: </vt:lpstr>
      <vt:lpstr>Natural Language Processing: OpenAI’s GPT-3 2020: </vt:lpstr>
      <vt:lpstr>Game Playing: AlphaGo 2016: </vt:lpstr>
      <vt:lpstr>Autonomous Driving: Waymo Ongoing: </vt:lpstr>
      <vt:lpstr>Medical Imaging: DeepMind’s AlphaFold 2020: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 Babu T</dc:creator>
  <cp:lastModifiedBy>VEMULA JASMINE</cp:lastModifiedBy>
  <cp:revision>76</cp:revision>
  <dcterms:created xsi:type="dcterms:W3CDTF">2023-05-06T03:47:00Z</dcterms:created>
  <dcterms:modified xsi:type="dcterms:W3CDTF">2025-07-14T10:33:12Z</dcterms:modified>
</cp:coreProperties>
</file>